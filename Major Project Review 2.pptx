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78" r:id="rId4"/>
    <p:sldId id="258" r:id="rId5"/>
    <p:sldId id="262" r:id="rId6"/>
    <p:sldId id="263" r:id="rId7"/>
    <p:sldId id="266" r:id="rId8"/>
    <p:sldId id="279" r:id="rId9"/>
    <p:sldId id="280" r:id="rId10"/>
    <p:sldId id="281" r:id="rId11"/>
    <p:sldId id="282" r:id="rId12"/>
    <p:sldId id="283" r:id="rId13"/>
    <p:sldId id="284" r:id="rId14"/>
    <p:sldId id="290" r:id="rId15"/>
    <p:sldId id="285" r:id="rId16"/>
    <p:sldId id="286" r:id="rId17"/>
    <p:sldId id="287" r:id="rId18"/>
    <p:sldId id="288" r:id="rId19"/>
    <p:sldId id="289" r:id="rId20"/>
    <p:sldId id="271" r:id="rId21"/>
    <p:sldId id="27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80092213" name="Govardhan Reddicharla" initials="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1" d="100"/>
          <a:sy n="91" d="100"/>
        </p:scale>
        <p:origin x="384" y="58"/>
      </p:cViewPr>
      <p:guideLst>
        <p:guide orient="horz" pos="221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jpeg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" y="-635"/>
            <a:ext cx="9147175" cy="1831340"/>
          </a:xfrm>
        </p:spPr>
        <p:txBody>
          <a:bodyPr>
            <a:normAutofit/>
          </a:bodyPr>
          <a:lstStyle/>
          <a:p>
            <a:r>
              <a:rPr lang="en-US" sz="3555">
                <a:latin typeface="Times New Roman" panose="02020603050405020304" charset="0"/>
                <a:cs typeface="Times New Roman" panose="02020603050405020304" charset="0"/>
              </a:rPr>
              <a:t>r</a:t>
            </a:r>
            <a:endParaRPr lang="en-US" sz="355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637405"/>
            <a:ext cx="3944620" cy="12084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                                                                                         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      </a:t>
            </a:r>
            <a:endParaRPr lang="en-US"/>
          </a:p>
        </p:txBody>
      </p:sp>
      <p:pic>
        <p:nvPicPr>
          <p:cNvPr id="4" name="Picture 3" descr="Blue text on a white background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32"/>
          <a:stretch>
            <a:fillRect/>
          </a:stretch>
        </p:blipFill>
        <p:spPr>
          <a:xfrm>
            <a:off x="182880" y="116205"/>
            <a:ext cx="8130540" cy="13620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3550" y="2677795"/>
            <a:ext cx="8272780" cy="1536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sz="3600">
                <a:sym typeface="+mn-ea"/>
              </a:rPr>
              <a:t>   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Robust Data-Driven Analysis for Electricity Theft </a:t>
            </a:r>
            <a:endParaRPr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Attack-Resilient Power Grid</a:t>
            </a:r>
            <a:endParaRPr lang="en-US" altLang="en-US" sz="28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effectLst/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83515" y="4979035"/>
            <a:ext cx="3007995" cy="866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GB" b="1"/>
              <a:t>     </a:t>
            </a:r>
            <a:r>
              <a:rPr lang="en-US" altLang="en-GB" b="1" u="sng"/>
              <a:t>Presentation By: </a:t>
            </a:r>
            <a:endParaRPr lang="en-US" altLang="en-GB" b="1" u="sng"/>
          </a:p>
          <a:p>
            <a:pPr algn="ctr"/>
            <a:r>
              <a:rPr lang="en-US" altLang="en-GB"/>
              <a:t>    </a:t>
            </a:r>
            <a:r>
              <a:rPr lang="en-US" altLang="en-GB" sz="1600"/>
              <a:t>Govardhan Reddicharla</a:t>
            </a:r>
            <a:endParaRPr lang="en-US" altLang="en-GB" sz="1600"/>
          </a:p>
          <a:p>
            <a:pPr algn="ctr"/>
            <a:r>
              <a:rPr lang="en-US" altLang="en-GB" sz="1600"/>
              <a:t>    Roll No: 23691f0049</a:t>
            </a:r>
            <a:endParaRPr lang="en-US" altLang="en-GB" sz="1600"/>
          </a:p>
        </p:txBody>
      </p:sp>
      <p:sp>
        <p:nvSpPr>
          <p:cNvPr id="9" name="Text Box 8"/>
          <p:cNvSpPr txBox="1"/>
          <p:nvPr/>
        </p:nvSpPr>
        <p:spPr>
          <a:xfrm flipH="1">
            <a:off x="4960620" y="4965065"/>
            <a:ext cx="3946525" cy="1146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en-GB" b="1"/>
              <a:t>               </a:t>
            </a:r>
            <a:r>
              <a:rPr lang="en-US" altLang="en-GB" b="1" u="sng"/>
              <a:t>Under The Guidance of:</a:t>
            </a:r>
            <a:endParaRPr lang="en-US" altLang="en-GB" b="1"/>
          </a:p>
          <a:p>
            <a:pPr algn="ctr"/>
            <a:r>
              <a:rPr lang="en-US" altLang="en-GB"/>
              <a:t>          </a:t>
            </a:r>
            <a:r>
              <a:rPr lang="en-US" altLang="en-GB" sz="1600"/>
              <a:t>Dr.Srinivasan J </a:t>
            </a:r>
            <a:endParaRPr lang="en-US" altLang="en-GB" sz="1600"/>
          </a:p>
          <a:p>
            <a:pPr algn="ctr"/>
            <a:r>
              <a:rPr lang="en-US" altLang="en-GB" sz="1600"/>
              <a:t>             Assistant Professor</a:t>
            </a:r>
            <a:endParaRPr lang="en-US" altLang="en-GB" sz="1600"/>
          </a:p>
          <a:p>
            <a:pPr algn="ctr"/>
            <a:r>
              <a:rPr lang="en-US" altLang="en-GB" sz="1600"/>
              <a:t>           Department of Computer Applications</a:t>
            </a:r>
            <a:endParaRPr lang="en-US" altLang="en-GB" sz="1600"/>
          </a:p>
        </p:txBody>
      </p:sp>
      <p:sp>
        <p:nvSpPr>
          <p:cNvPr id="5" name="Text Box 4"/>
          <p:cNvSpPr txBox="1"/>
          <p:nvPr/>
        </p:nvSpPr>
        <p:spPr>
          <a:xfrm>
            <a:off x="2955290" y="1223010"/>
            <a:ext cx="5021580" cy="549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Department of Computer Applications</a:t>
            </a:r>
            <a:endParaRPr lang="en-US" altLang="en-GB" sz="20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3515" y="4140200"/>
            <a:ext cx="8723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/>
              <a:t>  </a:t>
            </a:r>
            <a:r>
              <a:rPr lang="en-US" altLang="en-GB" sz="2000" b="1">
                <a:solidFill>
                  <a:schemeClr val="accent6">
                    <a:lumMod val="75000"/>
                  </a:schemeClr>
                </a:solidFill>
              </a:rPr>
              <a:t>Review -</a:t>
            </a:r>
            <a:r>
              <a:rPr lang="en-US" altLang="en-GB" b="1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GB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׀</a:t>
            </a:r>
            <a:r>
              <a:rPr lang="en-US" altLang="en-GB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׀</a:t>
            </a:r>
            <a:endParaRPr lang="en-US" altLang="en-GB" b="1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Abstract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Proposed methodology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Architectural design 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Proposed System features and advantage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Feasibility Study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ER Diagram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UML Diagrams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DFD Diagrams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555"/>
            <a:ext cx="8229600" cy="96139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1270635"/>
            <a:ext cx="8740140" cy="5229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Problem statement: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Electricity theft in smart grids poses a major challenge due to data imbalance, anomalies, and evolving fraud techniques. Existing systems often fail to detect such thefts accurately, leading to operational and financial losses.</a:t>
            </a:r>
            <a:b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Times New Roman Bold"/>
              </a:rPr>
              <a:t>Project objectives: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Times New Roman" panose="02020603050405020304"/>
              </a:rPr>
              <a:t> 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  <a:sym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To develop a robust machine learning framework that accurately detects electricity theft from smart meter data. The goal is to enhance detection accuracy, reduce false positives, and support real-time insights via a dashboard.</a:t>
            </a:r>
            <a:b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Brief solution approach: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system applies preprocessing, feature selection, and SMOTE to handle imbalanced data, followed by model training using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Tree, Random Forest, SVM, XGBoost, ANN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 A Flask-based dashboard visualizes predictions for real-time monitoring.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PROPOSED METHODOLOGY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8585"/>
            <a:ext cx="8229600" cy="4960620"/>
          </a:xfrm>
        </p:spPr>
        <p:txBody>
          <a:bodyPr>
            <a:noAutofit/>
          </a:bodyPr>
          <a:lstStyle/>
          <a:p>
            <a:endParaRPr sz="1900"/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Data Collection: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Load consumption data from smart meters (simulated datasets).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Data Preprocessing: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Clean and transform data using label encoding, normalization, outlier handling.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Feature Extraction: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Identify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key attributes impacting theft (usage variation, time, load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,voltage.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).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Model Training: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Train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ing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models (RF, DT, SVM, XGBoost, ANN) with hyperparameter tuning and cross-validation.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Evaluation: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Use metrics like accuracy, precision, recall, F1-score; focus on theft recall.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Dashboard: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Deploy the best model in a Flask app for live detection and alerts.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8920"/>
            <a:ext cx="8229600" cy="699135"/>
          </a:xfrm>
        </p:spPr>
        <p:txBody>
          <a:bodyPr/>
          <a:lstStyle/>
          <a:p>
            <a:pPr algn="ctr"/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RCHITECTURAL DESIGN</a:t>
            </a:r>
            <a:r>
              <a:rPr lang="en-US" alt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OF PROPOSED SYSTEM</a:t>
            </a:r>
            <a:endParaRPr lang="en-US" altLang="en-IN" sz="24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9800"/>
            <a:ext cx="9144000" cy="5909945"/>
          </a:xfrm>
        </p:spPr>
        <p:txBody>
          <a:bodyPr>
            <a:noAutofit/>
          </a:bodyPr>
          <a:lstStyle/>
          <a:p>
            <a:endParaRPr sz="1900"/>
          </a:p>
          <a:p>
            <a:pPr marL="0" indent="0">
              <a:buNone/>
            </a:pPr>
            <a:endParaRPr sz="500"/>
          </a:p>
        </p:txBody>
      </p:sp>
      <p:pic>
        <p:nvPicPr>
          <p:cNvPr id="1026" name="Picture 2" descr="database icon. vector icon for your website, mobile, presentation, and ...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" y="1465580"/>
            <a:ext cx="1149350" cy="116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1149350" y="1833880"/>
            <a:ext cx="2396490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Electricity dataset</a:t>
            </a:r>
            <a:endParaRPr lang="en-US" altLang="en-GB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99440" y="2626995"/>
            <a:ext cx="0" cy="37211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75" name="Picture 48" descr="Group Bee WiFi Back Office Operation Svg Png Icon Free Download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" y="3061970"/>
            <a:ext cx="111188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/>
          <p:nvPr/>
        </p:nvSpPr>
        <p:spPr>
          <a:xfrm>
            <a:off x="132715" y="4138930"/>
            <a:ext cx="148463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Preprocessing</a:t>
            </a:r>
            <a:endParaRPr lang="en-US" altLang="en-US" sz="14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028" name="Picture 4" descr="digital technology icon design on white background 46792644 Vector Art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891665" y="2999105"/>
            <a:ext cx="1381760" cy="139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0"/>
          <p:cNvSpPr txBox="1"/>
          <p:nvPr/>
        </p:nvSpPr>
        <p:spPr>
          <a:xfrm>
            <a:off x="2015490" y="4137660"/>
            <a:ext cx="1131570" cy="495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GB" sz="1400" b="1">
                <a:latin typeface="Times New Roman" panose="02020603050405020304" charset="0"/>
                <a:cs typeface="Times New Roman" panose="02020603050405020304" charset="0"/>
              </a:rPr>
              <a:t>Feature</a:t>
            </a:r>
            <a:br>
              <a:rPr lang="en-US" altLang="en-GB" sz="1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1400" b="1">
                <a:latin typeface="Times New Roman" panose="02020603050405020304" charset="0"/>
                <a:cs typeface="Times New Roman" panose="02020603050405020304" charset="0"/>
              </a:rPr>
              <a:t>Extraction</a:t>
            </a:r>
            <a:endParaRPr lang="en-US" altLang="en-GB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68" name="Straight Arrow Connector 1067"/>
          <p:cNvCxnSpPr/>
          <p:nvPr/>
        </p:nvCxnSpPr>
        <p:spPr>
          <a:xfrm>
            <a:off x="3147330" y="3695700"/>
            <a:ext cx="2369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2" name="Picture 18" descr="See related image detail. Premium Vector | Gear technology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2999105"/>
            <a:ext cx="1147445" cy="125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3"/>
          <p:cNvSpPr txBox="1"/>
          <p:nvPr/>
        </p:nvSpPr>
        <p:spPr>
          <a:xfrm>
            <a:off x="3376930" y="4138295"/>
            <a:ext cx="145986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</a:t>
            </a:r>
            <a:endParaRPr lang="en-US" sz="14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Implementation</a:t>
            </a:r>
            <a:endParaRPr lang="en-US" sz="14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(RF, DT, SVM, XGBoost, ANN)</a:t>
            </a:r>
            <a:endParaRPr lang="en-GB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0" name="Elbow Connector 19"/>
          <p:cNvCxnSpPr/>
          <p:nvPr/>
        </p:nvCxnSpPr>
        <p:spPr>
          <a:xfrm flipV="1">
            <a:off x="4343400" y="3223260"/>
            <a:ext cx="824865" cy="585470"/>
          </a:xfrm>
          <a:prstGeom prst="bentConnector3">
            <a:avLst>
              <a:gd name="adj1" fmla="val 50038"/>
            </a:avLst>
          </a:prstGeom>
          <a:ln w="381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4" name="Picture 20" descr="Gear - Free arrows ic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55" y="1847215"/>
            <a:ext cx="1597660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Elbow Connector 1023"/>
          <p:cNvCxnSpPr/>
          <p:nvPr/>
        </p:nvCxnSpPr>
        <p:spPr>
          <a:xfrm>
            <a:off x="6765614" y="3223168"/>
            <a:ext cx="575933" cy="404045"/>
          </a:xfrm>
          <a:prstGeom prst="bentConnector3">
            <a:avLst>
              <a:gd name="adj1" fmla="val 50001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60" name="Picture 36" descr="Screen Icon. Trendy Modern Flat Linear Vector Screen Icon on White ...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9" t="22436" r="23521" b="38748"/>
          <a:stretch>
            <a:fillRect/>
          </a:stretch>
        </p:blipFill>
        <p:spPr bwMode="auto">
          <a:xfrm flipH="1">
            <a:off x="7445375" y="3220085"/>
            <a:ext cx="1407795" cy="103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Box 14"/>
          <p:cNvSpPr txBox="1"/>
          <p:nvPr/>
        </p:nvSpPr>
        <p:spPr>
          <a:xfrm>
            <a:off x="5168265" y="1536700"/>
            <a:ext cx="1567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       </a:t>
            </a:r>
            <a:r>
              <a:rPr lang="en-US" altLang="en-GB" b="1"/>
              <a:t>System</a:t>
            </a:r>
            <a:endParaRPr lang="en-US" altLang="en-GB" b="1"/>
          </a:p>
        </p:txBody>
      </p:sp>
      <p:pic>
        <p:nvPicPr>
          <p:cNvPr id="23" name="Picture 30" descr="670+ Input Method Stock Photos, Pictures &amp; Royalty-Free Images - iStock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90"/>
          <a:stretch>
            <a:fillRect/>
          </a:stretch>
        </p:blipFill>
        <p:spPr bwMode="auto">
          <a:xfrm>
            <a:off x="5265987" y="3808490"/>
            <a:ext cx="1737497" cy="1294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reeform 23"/>
          <p:cNvSpPr/>
          <p:nvPr/>
        </p:nvSpPr>
        <p:spPr>
          <a:xfrm>
            <a:off x="5959475" y="3784600"/>
            <a:ext cx="229235" cy="140970"/>
          </a:xfrm>
          <a:custGeom>
            <a:avLst/>
            <a:gdLst>
              <a:gd name="connisteX0" fmla="*/ 338455 w 338455"/>
              <a:gd name="connsiteY0" fmla="*/ 0 h 160655"/>
              <a:gd name="connisteX1" fmla="*/ 0 w 338455"/>
              <a:gd name="connsiteY1" fmla="*/ 160655 h 160655"/>
              <a:gd name="connisteX2" fmla="*/ 33655 w 338455"/>
              <a:gd name="connsiteY2" fmla="*/ 295910 h 1606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38455" h="160655">
                <a:moveTo>
                  <a:pt x="338455" y="0"/>
                </a:moveTo>
                <a:cubicBezTo>
                  <a:pt x="269875" y="29210"/>
                  <a:pt x="60960" y="101600"/>
                  <a:pt x="0" y="160655"/>
                </a:cubicBezTo>
              </a:path>
            </a:pathLst>
          </a:cu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GB" altLang="en-US"/>
          </a:p>
        </p:txBody>
      </p:sp>
      <p:sp>
        <p:nvSpPr>
          <p:cNvPr id="25" name="Text Box 24"/>
          <p:cNvSpPr txBox="1"/>
          <p:nvPr/>
        </p:nvSpPr>
        <p:spPr>
          <a:xfrm>
            <a:off x="5572125" y="5104130"/>
            <a:ext cx="1431290" cy="47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/>
              <a:t>    Input</a:t>
            </a:r>
            <a:endParaRPr lang="en-US" altLang="en-GB" b="1"/>
          </a:p>
        </p:txBody>
      </p:sp>
      <p:sp>
        <p:nvSpPr>
          <p:cNvPr id="26" name="Text Box 25"/>
          <p:cNvSpPr txBox="1"/>
          <p:nvPr/>
        </p:nvSpPr>
        <p:spPr>
          <a:xfrm>
            <a:off x="7479665" y="2506980"/>
            <a:ext cx="137350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 Screen</a:t>
            </a:r>
            <a:endParaRPr lang="en-GB" alt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7209155" y="4766310"/>
            <a:ext cx="1879600" cy="2540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60" idx="2"/>
          </p:cNvCxnSpPr>
          <p:nvPr/>
        </p:nvCxnSpPr>
        <p:spPr>
          <a:xfrm>
            <a:off x="8149590" y="4253230"/>
            <a:ext cx="3175" cy="38036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858885" y="4791710"/>
            <a:ext cx="5715" cy="8382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/>
        </p:nvSpPr>
        <p:spPr>
          <a:xfrm>
            <a:off x="7738110" y="5629910"/>
            <a:ext cx="1350645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     </a:t>
            </a:r>
            <a:r>
              <a:rPr lang="en-US" altLang="en-GB" b="1"/>
              <a:t>No Theft</a:t>
            </a:r>
            <a:endParaRPr lang="en-US" altLang="en-GB" b="1"/>
          </a:p>
        </p:txBody>
      </p:sp>
      <p:cxnSp>
        <p:nvCxnSpPr>
          <p:cNvPr id="36" name="Straight Connector 35"/>
          <p:cNvCxnSpPr/>
          <p:nvPr/>
        </p:nvCxnSpPr>
        <p:spPr>
          <a:xfrm>
            <a:off x="7433310" y="4791710"/>
            <a:ext cx="12065" cy="78486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6595110" y="5562600"/>
            <a:ext cx="846455" cy="6096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Box 37"/>
          <p:cNvSpPr txBox="1"/>
          <p:nvPr/>
        </p:nvSpPr>
        <p:spPr>
          <a:xfrm>
            <a:off x="7101205" y="5088255"/>
            <a:ext cx="114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/>
              <a:t>Theft</a:t>
            </a:r>
            <a:endParaRPr lang="en-US" altLang="en-GB" b="1"/>
          </a:p>
        </p:txBody>
      </p:sp>
      <p:pic>
        <p:nvPicPr>
          <p:cNvPr id="39" name="Picture 38"/>
          <p:cNvPicPr/>
          <p:nvPr/>
        </p:nvPicPr>
        <p:blipFill>
          <a:blip r:embed="rId8"/>
          <a:stretch>
            <a:fillRect/>
          </a:stretch>
        </p:blipFill>
        <p:spPr>
          <a:xfrm>
            <a:off x="5266055" y="5706110"/>
            <a:ext cx="1714500" cy="100520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277620" y="3665220"/>
            <a:ext cx="679450" cy="3810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94690"/>
          </a:xfrm>
        </p:spPr>
        <p:txBody>
          <a:bodyPr>
            <a:normAutofit/>
          </a:bodyPr>
          <a:lstStyle/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ROPOSED SYSTEM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1590"/>
            <a:ext cx="8229600" cy="4978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rPr>
              <a:t>Features:</a:t>
            </a:r>
            <a:b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rPr>
            </a:br>
            <a:endParaRPr sz="2400" b="1">
              <a:latin typeface="+mj-lt"/>
              <a:cs typeface="+mj-lt"/>
            </a:endParaRPr>
          </a:p>
          <a:p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Smart ML-Based Detection: 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Automates theft detection with higher accuracy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Balanced Data Handling: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 Applies SMOTE to mitigate class imbalance, boosting theft recall.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Modular Pipeline: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 Covers preprocessing, training, evaluation, and deployment.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Interactive Dashboard: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 Provides real-time alerts and visual insights via Flask app.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>
                <a:latin typeface="+mj-ea"/>
                <a:cs typeface="+mj-ea"/>
              </a:rPr>
              <a:t>Advantages:</a:t>
            </a:r>
            <a:endParaRPr lang="en-US" sz="2000" b="1">
              <a:latin typeface="+mj-ea"/>
              <a:cs typeface="+mj-ea"/>
            </a:endParaRPr>
          </a:p>
          <a:p>
            <a:pPr marL="0" indent="0">
              <a:buNone/>
            </a:pPr>
            <a:endParaRPr lang="en-US" sz="2000" b="1">
              <a:latin typeface="+mj-ea"/>
              <a:cs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Higher Accuracy: 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XGBoost and RF provide improved performance with balanced data.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Real-Time Monitoring: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Flask dashboard enables quick decisions and alerts.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Scalability: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Easily expandable for larger datasets and real-world deployment.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Cost Efficiency: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Reduces human labor, loss, and operational expenses.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02615"/>
          </a:xfrm>
        </p:spPr>
        <p:txBody>
          <a:bodyPr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FEASIBILITY STUDY</a:t>
            </a: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8080"/>
            <a:ext cx="8229600" cy="4978400"/>
          </a:xfrm>
        </p:spPr>
        <p:txBody>
          <a:bodyPr/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A. Technical Feasibility: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system is technically feasible with existing AI/ML technologies, smart grid compatibility, and sufficient hardware support.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B. Economic Feasibility: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It is cost-effective by reducing theft losses and operational costs, and it scales efficiently for various grid sizes.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C. Operational Feasibility: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system is operationally viable with automated detection and user-friendly dashboards for seamless utility monitoring.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D. Legal Feasibility: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It complies with data privacy and energy regulations, ensuring secure and lawful electricity theft detection.</a:t>
            </a:r>
            <a:b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E. Schedule Feasibility: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system can be developed and implemented within 6–12 months with phased deployment for better adaptability.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ER DIAGRAM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ER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8745" y="1429385"/>
            <a:ext cx="6332855" cy="4882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8460"/>
            <a:ext cx="8229600" cy="327660"/>
          </a:xfrm>
        </p:spPr>
        <p:txBody>
          <a:bodyPr>
            <a:normAutofit fontScale="90000"/>
          </a:bodyPr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UML DIAGRAMS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 descr="CLASS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0350" y="1963420"/>
            <a:ext cx="5812155" cy="47447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38855" y="1154430"/>
            <a:ext cx="2184400" cy="467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Class Diagram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910" y="587375"/>
            <a:ext cx="8314690" cy="686435"/>
          </a:xfrm>
        </p:spPr>
        <p:txBody>
          <a:bodyPr/>
          <a:p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Use Case Diagram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USECASE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26565" y="1560195"/>
            <a:ext cx="4647565" cy="4181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499745"/>
          </a:xfrm>
        </p:spPr>
        <p:txBody>
          <a:bodyPr>
            <a:noAutofit/>
          </a:bodyPr>
          <a:p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Activity Diagram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ACTIVITY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30805" y="1025525"/>
            <a:ext cx="3882390" cy="5734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Sequence Diagram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SEQUENCE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1200" y="1540510"/>
            <a:ext cx="7738110" cy="4798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Collaboration diagram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COLLABORATION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77290" y="1600200"/>
            <a:ext cx="678878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Component Diagram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5" descr="COMPONENT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5115" y="1434465"/>
            <a:ext cx="5515610" cy="4589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Deployment Diagram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DEPLOYMENT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77290" y="1600200"/>
            <a:ext cx="678878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43890"/>
          </a:xfrm>
        </p:spPr>
        <p:txBody>
          <a:bodyPr/>
          <a:p>
            <a:r>
              <a:rPr lang="en-US" alt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DFD DIAGRAM</a:t>
            </a:r>
            <a:endParaRPr lang="en-GB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3800475" y="1337310"/>
            <a:ext cx="1634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        Level-0</a:t>
            </a:r>
            <a:endParaRPr lang="en-US" altLang="en-GB"/>
          </a:p>
        </p:txBody>
      </p:sp>
      <p:pic>
        <p:nvPicPr>
          <p:cNvPr id="6" name="Content Placeholder 5" descr="LEVEL O DF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08860" y="1989455"/>
            <a:ext cx="45262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840"/>
            <a:ext cx="8229600" cy="396240"/>
          </a:xfrm>
        </p:spPr>
        <p:txBody>
          <a:bodyPr>
            <a:normAutofit fontScale="90000"/>
          </a:bodyPr>
          <a:p>
            <a:r>
              <a:rPr lang="en-US" alt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DFD DIAGRAM</a:t>
            </a:r>
            <a:endParaRPr lang="en-GB" alt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3691255" y="677545"/>
            <a:ext cx="1930400" cy="501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ym typeface="+mn-ea"/>
              </a:rPr>
              <a:t>           Level-1</a:t>
            </a:r>
            <a:endParaRPr lang="en-US" altLang="en-GB"/>
          </a:p>
          <a:p>
            <a:endParaRPr lang="en-GB" altLang="en-US"/>
          </a:p>
        </p:txBody>
      </p:sp>
      <p:pic>
        <p:nvPicPr>
          <p:cNvPr id="4" name="Content Placeholder 3" descr="LEVEL 1 DF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3285" y="1177925"/>
            <a:ext cx="754570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71855"/>
          </a:xfrm>
        </p:spPr>
        <p:txBody>
          <a:bodyPr/>
          <a:p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DFD DIAGRAM</a:t>
            </a:r>
            <a:endParaRPr lang="en-GB" alt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3987800" y="1146810"/>
            <a:ext cx="1421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Level-2</a:t>
            </a:r>
            <a:endParaRPr lang="en-US" altLang="en-GB"/>
          </a:p>
        </p:txBody>
      </p:sp>
      <p:pic>
        <p:nvPicPr>
          <p:cNvPr id="7" name="Content Placeholder 6" descr="LEVEL 2 DF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3590" y="1515110"/>
            <a:ext cx="663321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A Comprehensive Review on Electricity Theft Detection using ML Techniques – IJERT, 2023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Smart Meter Based Frameworks for Theft Detection – Elsevier Energy Reports, 2022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Comparative Study on ML Classifiers for Power Theft – IEEE Access, 2022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Anomaly Detection Using XGBoost for Power Consumption – Springer, 2021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 Real-time Electricity Theft Monitoring via Smart Grids – IEEE IoT Journal, 2023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en-GB"/>
            </a:br>
            <a:r>
              <a:rPr lang="en-US" altLang="en-GB"/>
              <a:t>THANK YOU</a:t>
            </a:r>
            <a:endParaRPr lang="en-US" alt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0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4212</Words>
  <Application>WPS Presentation</Application>
  <PresentationFormat>On-screen Show (4:3)</PresentationFormat>
  <Paragraphs>150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SimSun</vt:lpstr>
      <vt:lpstr>Wingdings</vt:lpstr>
      <vt:lpstr>Arial</vt:lpstr>
      <vt:lpstr>Times New Roman</vt:lpstr>
      <vt:lpstr>Times New Roman Bold</vt:lpstr>
      <vt:lpstr>Times New Roman</vt:lpstr>
      <vt:lpstr>Calibri</vt:lpstr>
      <vt:lpstr>Microsoft YaHei</vt:lpstr>
      <vt:lpstr>Arial Unicode MS</vt:lpstr>
      <vt:lpstr>Office Theme</vt:lpstr>
      <vt:lpstr>r</vt:lpstr>
      <vt:lpstr>CONTENTS</vt:lpstr>
      <vt:lpstr>ABSTRACT</vt:lpstr>
      <vt:lpstr>PROPOSED METHODOLOGY</vt:lpstr>
      <vt:lpstr>ARCHITECTURAL DESIGN OF PROPOSED SYSTEM</vt:lpstr>
      <vt:lpstr>PROPOSED SYSTEM</vt:lpstr>
      <vt:lpstr>FEASIBILITY STUDY </vt:lpstr>
      <vt:lpstr>ER DIAGRAM</vt:lpstr>
      <vt:lpstr>UML DIAGRAMS</vt:lpstr>
      <vt:lpstr>Use Case Diagram</vt:lpstr>
      <vt:lpstr>Activity Diagram</vt:lpstr>
      <vt:lpstr>Sequence Diagram</vt:lpstr>
      <vt:lpstr>Collaboration diagram</vt:lpstr>
      <vt:lpstr>Component Diagram</vt:lpstr>
      <vt:lpstr>Deployment Diagram</vt:lpstr>
      <vt:lpstr>   DFD DIAGRAM</vt:lpstr>
      <vt:lpstr>   DFD DIAGRAM</vt:lpstr>
      <vt:lpstr>DFD DIAGRAM</vt:lpstr>
      <vt:lpstr>References</vt:lpstr>
      <vt:lpstr>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Govardhan Reddicharla</cp:lastModifiedBy>
  <cp:revision>31</cp:revision>
  <dcterms:created xsi:type="dcterms:W3CDTF">2013-01-27T09:14:00Z</dcterms:created>
  <dcterms:modified xsi:type="dcterms:W3CDTF">2025-05-21T13:25:13Z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1DC492BB965D46E6BBF6A211DB5037F0_13</vt:lpwstr>
  </property>
  <property fmtid="{D5CDD505-2E9C-101B-9397-08002B2CF9AE}" pid="3" name="KSOProductBuildVer">
    <vt:lpwstr>2057-12.2.0.21183</vt:lpwstr>
  </property>
</Properties>
</file>