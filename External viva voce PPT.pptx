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78" r:id="rId3"/>
    <p:sldId id="258" r:id="rId4"/>
    <p:sldId id="313" r:id="rId5"/>
    <p:sldId id="312" r:id="rId6"/>
    <p:sldId id="314" r:id="rId7"/>
    <p:sldId id="315" r:id="rId8"/>
    <p:sldId id="317" r:id="rId9"/>
    <p:sldId id="316" r:id="rId10"/>
    <p:sldId id="318" r:id="rId11"/>
    <p:sldId id="266" r:id="rId12"/>
    <p:sldId id="279" r:id="rId13"/>
    <p:sldId id="319" r:id="rId14"/>
    <p:sldId id="320" r:id="rId15"/>
    <p:sldId id="321" r:id="rId16"/>
    <p:sldId id="322" r:id="rId17"/>
    <p:sldId id="323" r:id="rId18"/>
    <p:sldId id="324" r:id="rId19"/>
    <p:sldId id="329" r:id="rId20"/>
    <p:sldId id="295" r:id="rId21"/>
    <p:sldId id="308" r:id="rId22"/>
    <p:sldId id="325" r:id="rId23"/>
    <p:sldId id="305" r:id="rId24"/>
    <p:sldId id="306" r:id="rId25"/>
    <p:sldId id="307" r:id="rId26"/>
    <p:sldId id="310" r:id="rId27"/>
    <p:sldId id="326" r:id="rId28"/>
    <p:sldId id="328" r:id="rId29"/>
    <p:sldId id="27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80092213" name="Govardhan Reddicharla" initials="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70"/>
        <p:guide pos="2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" y="-635"/>
            <a:ext cx="9147175" cy="1831340"/>
          </a:xfrm>
        </p:spPr>
        <p:txBody>
          <a:bodyPr>
            <a:normAutofit/>
          </a:bodyPr>
          <a:lstStyle/>
          <a:p>
            <a:r>
              <a:rPr lang="en-US" sz="3555">
                <a:latin typeface="Times New Roman" panose="02020603050405020304" charset="0"/>
                <a:cs typeface="Times New Roman" panose="02020603050405020304" charset="0"/>
              </a:rPr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637405"/>
            <a:ext cx="3944620" cy="12084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/>
              <a:t>                               </a:t>
            </a:r>
          </a:p>
        </p:txBody>
      </p:sp>
      <p:pic>
        <p:nvPicPr>
          <p:cNvPr id="4" name="Picture 3" descr="Blue text on a white background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32"/>
          <a:stretch>
            <a:fillRect/>
          </a:stretch>
        </p:blipFill>
        <p:spPr>
          <a:xfrm>
            <a:off x="182880" y="116205"/>
            <a:ext cx="8130540" cy="13620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11785" y="2677795"/>
            <a:ext cx="8424545" cy="1536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sz="3600">
                <a:sym typeface="+mn-ea"/>
              </a:rPr>
              <a:t>    </a:t>
            </a:r>
            <a:r>
              <a:rPr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Robust Data-Driven Analysis for Electricity Theft </a:t>
            </a:r>
          </a:p>
          <a:p>
            <a:pPr algn="l"/>
            <a:r>
              <a:rPr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</a:t>
            </a:r>
            <a:r>
              <a:rPr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Attack-Resilient Power Grid</a:t>
            </a:r>
            <a:endParaRPr lang="en-US" altLang="en-US" sz="28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effectLst/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83515" y="4979035"/>
            <a:ext cx="3007995" cy="866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GB" b="1"/>
              <a:t>     </a:t>
            </a:r>
            <a:r>
              <a:rPr lang="en-US" altLang="en-GB" b="1" u="sng"/>
              <a:t>Presentation By: </a:t>
            </a:r>
          </a:p>
          <a:p>
            <a:pPr algn="ctr"/>
            <a:r>
              <a:rPr lang="en-US" altLang="en-GB"/>
              <a:t>    </a:t>
            </a:r>
            <a:r>
              <a:rPr lang="en-US" altLang="en-GB" sz="1600"/>
              <a:t>Govardhan Reddicharla</a:t>
            </a:r>
          </a:p>
          <a:p>
            <a:pPr algn="ctr"/>
            <a:r>
              <a:rPr lang="en-US" altLang="en-GB" sz="1600"/>
              <a:t>    Roll No: 23691f0049</a:t>
            </a:r>
          </a:p>
        </p:txBody>
      </p:sp>
      <p:sp>
        <p:nvSpPr>
          <p:cNvPr id="9" name="Text Box 8"/>
          <p:cNvSpPr txBox="1"/>
          <p:nvPr/>
        </p:nvSpPr>
        <p:spPr>
          <a:xfrm flipH="1">
            <a:off x="4960620" y="4965065"/>
            <a:ext cx="3946525" cy="1146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en-GB" b="1"/>
              <a:t>               </a:t>
            </a:r>
            <a:r>
              <a:rPr lang="en-US" altLang="en-GB" b="1" u="sng"/>
              <a:t>Under The Guidance of:</a:t>
            </a:r>
            <a:endParaRPr lang="en-US" altLang="en-GB" b="1"/>
          </a:p>
          <a:p>
            <a:pPr algn="ctr"/>
            <a:r>
              <a:rPr lang="en-US" altLang="en-GB"/>
              <a:t>          </a:t>
            </a:r>
            <a:r>
              <a:rPr lang="en-US" altLang="en-GB" sz="1600"/>
              <a:t>Dr.Srinivasan J </a:t>
            </a:r>
          </a:p>
          <a:p>
            <a:pPr algn="ctr"/>
            <a:r>
              <a:rPr lang="en-US" altLang="en-GB" sz="1600"/>
              <a:t>             Assistant Professor</a:t>
            </a:r>
          </a:p>
          <a:p>
            <a:pPr algn="ctr"/>
            <a:r>
              <a:rPr lang="en-US" altLang="en-GB" sz="1600"/>
              <a:t>           Department of Computer Applications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955290" y="1223010"/>
            <a:ext cx="5021580" cy="549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Department of 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6690"/>
            <a:ext cx="8229600" cy="520065"/>
          </a:xfrm>
        </p:spPr>
        <p:txBody>
          <a:bodyPr>
            <a:normAutofit/>
          </a:bodyPr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4100"/>
            <a:ext cx="8229600" cy="5532755"/>
          </a:xfrm>
        </p:spPr>
        <p:txBody>
          <a:bodyPr>
            <a:normAutofit fontScale="25000"/>
          </a:bodyPr>
          <a:lstStyle/>
          <a:p>
            <a:pPr algn="just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Title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Abstract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Literature Review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Existing System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Proposed System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Hardware and Software Requirements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Feasibility Study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 Description</a:t>
            </a: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</a:rPr>
              <a:t>System Implementation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esults</a:t>
            </a: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/Performance Evaluation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</a:t>
            </a: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nclusion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Scope for Future Enhancement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&amp; Sample Code 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IN" sz="7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IN" sz="7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en-IN" sz="7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555"/>
            <a:ext cx="8229600" cy="96139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0635"/>
            <a:ext cx="8273415" cy="52298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Problem statement: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Electricity theft in smart grids poses a major challenge due to data imbalance, anomalies, and evolving fraud techniques. Existing systems often fail to detect such thefts accurately, leading to operational and financial losses.</a:t>
            </a:r>
            <a:b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Times New Roman Bold"/>
              </a:rPr>
              <a:t>Project objectives: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Times New Roman" panose="02020603050405020304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To develop a robust machine learning framework that accurately detects electricity theft from smart meter data. The goal is to enhance detection accuracy, reduce false positives, and support real-time insights via a dashboard.</a:t>
            </a:r>
            <a:b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Brief solution approach: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system applies preprocessing, feature selection, and SMOTE to handle imbalanced data, followed by model training using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Tree, Random Forest, SVM, XGBoost, ANN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 A Flask-based dashboard visualizes predictions for real-time monitoring.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668655"/>
          </a:xfrm>
        </p:spPr>
        <p:txBody>
          <a:bodyPr>
            <a:normAutofit/>
          </a:bodyPr>
          <a:lstStyle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8870"/>
            <a:ext cx="8229600" cy="54311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Electricity theft is a major challenge in modern power distribution system, leading to substantial financial losses and instability in the energy grid.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The system enhances grid resilience against theft attacks by analyzing consumption behaviour.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This project proposes a 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machine learning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-based solution to identify and prevent electricity theft in smart power grids.</a:t>
            </a:r>
          </a:p>
          <a:p>
            <a:pPr>
              <a:lnSpc>
                <a:spcPct val="11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It integrates advanced data analytics, preprocessing techniques, feature engineering, and modern classification models like 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Random Forest, </a:t>
            </a:r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DT, 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XGBoost, SVM, and ANN.</a:t>
            </a:r>
          </a:p>
          <a:p>
            <a:pPr>
              <a:lnSpc>
                <a:spcPct val="11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We balance the dataset using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 SMOTE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to improve model generalization. The best-performing model is deployed in a lightweight dashboard using Flask for real-time use.</a:t>
            </a:r>
          </a:p>
          <a:p>
            <a:pPr>
              <a:lnSpc>
                <a:spcPct val="110000"/>
              </a:lnSpc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The overal goal is to build a stable , intelligent, and attack resilient energy grid that supports the future of sustainable development.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10490" y="365125"/>
          <a:ext cx="8909685" cy="6475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9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S. 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Title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Authors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Journal/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Year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Methods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Merits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Limitations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CatBoost-based supervised machine learning framework for electricity theft detection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S. Hussain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Energy Reports,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2021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CatBoost, Feature Engineering, Outlier Detection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Fast training, Strong handling of categorical features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Requires high-quality feature selection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An adaptive synthesis to handle imbalanced Big Data with deep Siamese network for electricity theft detection in smart grids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N. Javaid, N. Jan,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M. Javed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Journal of Parallel and Distributed Computing, 2021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Deep Siamese Networks, Data Balancing Techniques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Improved handling of imbalanced data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Requires expert knowledge for parameter tuning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Hybrid deep neural networks for detection of non-technical losses in electricity smart meters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M.-M. Buzau,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J. Tejedor-Aguilera, P. Cruz-Romero, A. Gómez-Expósito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IEEE Transactions on Power Systems, Mar. 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Hybrid Deep Neural Networks (DNN), Convolutional Neural Networks (CNN), Autoencoders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Robust feature extraction,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High accuracy in complex data patterns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Requires large computational resources,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Risk of overfitting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Robust Big Data analytics for electricity price forecasting in the smart grid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K. Wang, C. Xu,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Y. Zhang, S. Guo, A. Y. Zomaya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IEEE Transactions on Big Data, Mar. 2019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Big Data Analytics, Machine Learning Models,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Time Series Analysis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Efficient handling of large data volumes,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Improved prediction accuracy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High implementation cost,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Requires extensive data labeling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0615"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Detection of non-technical losses using smart meter data and supervised learning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M. M. Buzau,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 J. Tejedor-Aguilera,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 P. Cruz-Romero,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IEEE Transactions on Smart Grid,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 May 2019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Supervised Learning, Feature Engineering, Data Clustering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High detection precision, </a:t>
                      </a: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Efficient for small-scale grids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Performance degrades with incomplete data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2251710" y="0"/>
            <a:ext cx="489394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t"/>
            <a:r>
              <a:rPr lang="en-US" altLang="en-GB"/>
              <a:t>           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LITERATURE 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035"/>
            <a:ext cx="8229600" cy="773430"/>
          </a:xfrm>
        </p:spPr>
        <p:txBody>
          <a:bodyPr>
            <a:normAutofit/>
          </a:bodyPr>
          <a:lstStyle/>
          <a:p>
            <a:pPr algn="ctr"/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XISTING</a:t>
            </a:r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 S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1720"/>
            <a:ext cx="8229600" cy="571754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Manual Inspection: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Relies on human meter readers; time-consuming and prone to error.</a:t>
            </a: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Rule-Based Alerts: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Uses fixed thresholds to detect anomalies—ineffective for complex theft.</a:t>
            </a: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Basic Machine Learning: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Earlier models often ignore class imbalance and feature importance.</a:t>
            </a:r>
          </a:p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No Visualization: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Lack of dashboards or interpretability in existing tools.</a:t>
            </a:r>
          </a:p>
          <a:p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 u="sng">
                <a:latin typeface="Times New Roman" panose="02020603050405020304" charset="0"/>
                <a:cs typeface="Times New Roman" panose="02020603050405020304" charset="0"/>
              </a:rPr>
              <a:t>Limitations:</a:t>
            </a:r>
          </a:p>
          <a:p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Limited Accuracy: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High false negatives due to basic or unoptimized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Labor Intensive: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Manual audits delay detection and increase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Outdated Techniques: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Cannot adapt to evolving theft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No Real-Time Capabilities: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Detection and response are delayed, increasing losses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3045"/>
            <a:ext cx="8229600" cy="694690"/>
          </a:xfrm>
        </p:spPr>
        <p:txBody>
          <a:bodyPr>
            <a:normAutofit/>
          </a:bodyPr>
          <a:lstStyle/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ROPOSED</a:t>
            </a:r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 S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7480"/>
            <a:ext cx="8229600" cy="484251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Smart ML-Based Detection: 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Automates theft detection with higher accuracy.</a:t>
            </a:r>
          </a:p>
          <a:p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Balanced Data Handling: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 Applies SMOTE to mitigate class imbalance, boosting theft recall.</a:t>
            </a:r>
          </a:p>
          <a:p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Modular Pipeline: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 Covers preprocessing, training, evaluation, and deployment.</a:t>
            </a:r>
          </a:p>
          <a:p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Interactive Dashboard: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 Provides real-time alerts and visual insights via Flask app.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00" b="1" u="sng">
                <a:latin typeface="Times New Roman" panose="02020603050405020304" charset="0"/>
                <a:cs typeface="Times New Roman" panose="02020603050405020304" charset="0"/>
              </a:rPr>
              <a:t>Advantages:</a:t>
            </a:r>
          </a:p>
          <a:p>
            <a:pPr marL="0" indent="0">
              <a:buNone/>
            </a:pPr>
            <a:endParaRPr 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Higher Accuracy: 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XGBoost and RF provide improved performance with balanced data.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Real-Time Monitoring: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Flask dashboard enables quick decisions and alerts.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Scalability: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Easily expandable for larger datasets and real-world deployment.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Cost Efficiency:</a:t>
            </a: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Reduces human labor, loss, and operational expenses.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8920"/>
            <a:ext cx="8229600" cy="699135"/>
          </a:xfrm>
        </p:spPr>
        <p:txBody>
          <a:bodyPr/>
          <a:lstStyle/>
          <a:p>
            <a:pPr algn="ctr"/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RCHITECTURAL DESIGN</a:t>
            </a:r>
            <a:r>
              <a:rPr lang="en-US" alt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9800"/>
            <a:ext cx="9144000" cy="5909945"/>
          </a:xfrm>
        </p:spPr>
        <p:txBody>
          <a:bodyPr>
            <a:noAutofit/>
          </a:bodyPr>
          <a:lstStyle/>
          <a:p>
            <a:endParaRPr sz="1900"/>
          </a:p>
          <a:p>
            <a:pPr marL="0" indent="0">
              <a:buNone/>
            </a:pPr>
            <a:endParaRPr sz="500"/>
          </a:p>
        </p:txBody>
      </p:sp>
      <p:pic>
        <p:nvPicPr>
          <p:cNvPr id="1026" name="Picture 2" descr="database icon. vector icon for your website, mobile, presentation, and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" y="1465580"/>
            <a:ext cx="1149350" cy="116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1149350" y="1833880"/>
            <a:ext cx="2396490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Electricity dataset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99440" y="2626995"/>
            <a:ext cx="0" cy="37211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75" name="Picture 48" descr="Group Bee WiFi Back Office Operation Svg Png Icon Free Download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" y="3061970"/>
            <a:ext cx="111188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/>
          <p:nvPr/>
        </p:nvSpPr>
        <p:spPr>
          <a:xfrm>
            <a:off x="132715" y="4138930"/>
            <a:ext cx="148463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Preprocessing</a:t>
            </a:r>
            <a:endParaRPr lang="en-US" altLang="en-US" sz="14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028" name="Picture 4" descr="digital technology icon design on white background 46792644 Vector Art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891665" y="2999105"/>
            <a:ext cx="1381760" cy="139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0"/>
          <p:cNvSpPr txBox="1"/>
          <p:nvPr/>
        </p:nvSpPr>
        <p:spPr>
          <a:xfrm>
            <a:off x="2015490" y="4137660"/>
            <a:ext cx="1131570" cy="495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GB" sz="1400" b="1">
                <a:latin typeface="Times New Roman" panose="02020603050405020304" charset="0"/>
                <a:cs typeface="Times New Roman" panose="02020603050405020304" charset="0"/>
              </a:rPr>
              <a:t>Feature</a:t>
            </a:r>
            <a:br>
              <a:rPr lang="en-US" altLang="en-GB" sz="1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1400" b="1">
                <a:latin typeface="Times New Roman" panose="02020603050405020304" charset="0"/>
                <a:cs typeface="Times New Roman" panose="02020603050405020304" charset="0"/>
              </a:rPr>
              <a:t>Extraction</a:t>
            </a:r>
          </a:p>
        </p:txBody>
      </p:sp>
      <p:cxnSp>
        <p:nvCxnSpPr>
          <p:cNvPr id="1068" name="Straight Arrow Connector 1067"/>
          <p:cNvCxnSpPr/>
          <p:nvPr/>
        </p:nvCxnSpPr>
        <p:spPr>
          <a:xfrm>
            <a:off x="3147330" y="3695700"/>
            <a:ext cx="2369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2" name="Picture 18" descr="See related image detail. Premium Vector | Gear technology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2999105"/>
            <a:ext cx="1147445" cy="125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3"/>
          <p:cNvSpPr txBox="1"/>
          <p:nvPr/>
        </p:nvSpPr>
        <p:spPr>
          <a:xfrm>
            <a:off x="3376930" y="4138295"/>
            <a:ext cx="145986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</a:t>
            </a:r>
          </a:p>
          <a:p>
            <a:pPr algn="ctr"/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Implementation</a:t>
            </a:r>
          </a:p>
          <a:p>
            <a:pPr algn="ctr"/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(RF, DT, SVM, XGBoost, ANN)</a:t>
            </a:r>
            <a:endParaRPr lang="en-GB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0" name="Elbow Connector 19"/>
          <p:cNvCxnSpPr/>
          <p:nvPr/>
        </p:nvCxnSpPr>
        <p:spPr>
          <a:xfrm flipV="1">
            <a:off x="4343400" y="3223260"/>
            <a:ext cx="824865" cy="585470"/>
          </a:xfrm>
          <a:prstGeom prst="bentConnector3">
            <a:avLst>
              <a:gd name="adj1" fmla="val 50038"/>
            </a:avLst>
          </a:prstGeom>
          <a:ln w="381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4" name="Picture 20" descr="Gear - Free arrows ic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55" y="1847215"/>
            <a:ext cx="1597660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Elbow Connector 1023"/>
          <p:cNvCxnSpPr/>
          <p:nvPr/>
        </p:nvCxnSpPr>
        <p:spPr>
          <a:xfrm>
            <a:off x="6765614" y="3223168"/>
            <a:ext cx="575933" cy="404045"/>
          </a:xfrm>
          <a:prstGeom prst="bentConnector3">
            <a:avLst>
              <a:gd name="adj1" fmla="val 50001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60" name="Picture 36" descr="Screen Icon. Trendy Modern Flat Linear Vector Screen Icon on White ...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9" t="22436" r="23521" b="38748"/>
          <a:stretch>
            <a:fillRect/>
          </a:stretch>
        </p:blipFill>
        <p:spPr bwMode="auto">
          <a:xfrm flipH="1">
            <a:off x="7445375" y="3220085"/>
            <a:ext cx="1407795" cy="103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Box 14"/>
          <p:cNvSpPr txBox="1"/>
          <p:nvPr/>
        </p:nvSpPr>
        <p:spPr>
          <a:xfrm>
            <a:off x="5168265" y="1536700"/>
            <a:ext cx="1567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       </a:t>
            </a:r>
            <a:r>
              <a:rPr lang="en-US" altLang="en-GB" b="1"/>
              <a:t>System</a:t>
            </a:r>
          </a:p>
        </p:txBody>
      </p:sp>
      <p:pic>
        <p:nvPicPr>
          <p:cNvPr id="23" name="Picture 30" descr="670+ Input Method Stock Photos, Pictures &amp; Royalty-Free Images - iStock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90"/>
          <a:stretch>
            <a:fillRect/>
          </a:stretch>
        </p:blipFill>
        <p:spPr bwMode="auto">
          <a:xfrm>
            <a:off x="5265987" y="3808490"/>
            <a:ext cx="1737497" cy="1294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reeform 23"/>
          <p:cNvSpPr/>
          <p:nvPr/>
        </p:nvSpPr>
        <p:spPr>
          <a:xfrm>
            <a:off x="5959475" y="3784600"/>
            <a:ext cx="229235" cy="140970"/>
          </a:xfrm>
          <a:custGeom>
            <a:avLst/>
            <a:gdLst>
              <a:gd name="connisteX0" fmla="*/ 338455 w 338455"/>
              <a:gd name="connsiteY0" fmla="*/ 0 h 160655"/>
              <a:gd name="connisteX1" fmla="*/ 0 w 338455"/>
              <a:gd name="connsiteY1" fmla="*/ 160655 h 160655"/>
              <a:gd name="connisteX2" fmla="*/ 33655 w 338455"/>
              <a:gd name="connsiteY2" fmla="*/ 295910 h 1606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38455" h="160655">
                <a:moveTo>
                  <a:pt x="338455" y="0"/>
                </a:moveTo>
                <a:cubicBezTo>
                  <a:pt x="269875" y="29210"/>
                  <a:pt x="60960" y="101600"/>
                  <a:pt x="0" y="160655"/>
                </a:cubicBezTo>
              </a:path>
            </a:pathLst>
          </a:cu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25" name="Text Box 24"/>
          <p:cNvSpPr txBox="1"/>
          <p:nvPr/>
        </p:nvSpPr>
        <p:spPr>
          <a:xfrm>
            <a:off x="5572125" y="5104130"/>
            <a:ext cx="1431290" cy="472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b="1"/>
              <a:t>    Input</a:t>
            </a:r>
          </a:p>
        </p:txBody>
      </p:sp>
      <p:sp>
        <p:nvSpPr>
          <p:cNvPr id="26" name="Text Box 25"/>
          <p:cNvSpPr txBox="1"/>
          <p:nvPr/>
        </p:nvSpPr>
        <p:spPr>
          <a:xfrm>
            <a:off x="7479665" y="2506980"/>
            <a:ext cx="137350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 Screen</a:t>
            </a:r>
            <a:endParaRPr lang="en-GB" alt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7209155" y="4766310"/>
            <a:ext cx="1879600" cy="2540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60" idx="2"/>
          </p:cNvCxnSpPr>
          <p:nvPr/>
        </p:nvCxnSpPr>
        <p:spPr>
          <a:xfrm>
            <a:off x="8149590" y="4253230"/>
            <a:ext cx="3175" cy="38036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858885" y="4791710"/>
            <a:ext cx="5715" cy="8382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/>
        </p:nvSpPr>
        <p:spPr>
          <a:xfrm>
            <a:off x="7738110" y="5629910"/>
            <a:ext cx="1350645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/>
              <a:t>      </a:t>
            </a:r>
            <a:r>
              <a:rPr lang="en-US" altLang="en-GB" b="1"/>
              <a:t>No Theft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7433310" y="4791710"/>
            <a:ext cx="12065" cy="78486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6595110" y="5562600"/>
            <a:ext cx="846455" cy="6096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Box 37"/>
          <p:cNvSpPr txBox="1"/>
          <p:nvPr/>
        </p:nvSpPr>
        <p:spPr>
          <a:xfrm>
            <a:off x="7101205" y="5088255"/>
            <a:ext cx="114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b="1"/>
              <a:t>Theft</a:t>
            </a:r>
          </a:p>
        </p:txBody>
      </p:sp>
      <p:pic>
        <p:nvPicPr>
          <p:cNvPr id="39" name="Picture 38"/>
          <p:cNvPicPr/>
          <p:nvPr/>
        </p:nvPicPr>
        <p:blipFill>
          <a:blip r:embed="rId9"/>
          <a:stretch>
            <a:fillRect/>
          </a:stretch>
        </p:blipFill>
        <p:spPr>
          <a:xfrm>
            <a:off x="5266055" y="5706110"/>
            <a:ext cx="1714500" cy="100520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277620" y="3665220"/>
            <a:ext cx="679450" cy="3810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47090"/>
          </a:xfrm>
        </p:spPr>
        <p:txBody>
          <a:bodyPr>
            <a:noAutofit/>
          </a:bodyPr>
          <a:lstStyle/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HARDWARE AND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90" y="1139190"/>
            <a:ext cx="8229600" cy="5384800"/>
          </a:xfrm>
        </p:spPr>
        <p:txBody>
          <a:bodyPr>
            <a:normAutofit/>
          </a:bodyPr>
          <a:lstStyle/>
          <a:p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</p:txBody>
      </p:sp>
      <p:sp>
        <p:nvSpPr>
          <p:cNvPr id="11" name="Text Box 10"/>
          <p:cNvSpPr txBox="1"/>
          <p:nvPr/>
        </p:nvSpPr>
        <p:spPr>
          <a:xfrm>
            <a:off x="262890" y="1336040"/>
            <a:ext cx="4241800" cy="42100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sz="2000" b="1" u="sng"/>
              <a:t>Software Requirements</a:t>
            </a:r>
            <a:r>
              <a:rPr lang="en-US" sz="2000" b="1" u="sng"/>
              <a:t>:</a:t>
            </a:r>
          </a:p>
        </p:txBody>
      </p:sp>
      <p:graphicFrame>
        <p:nvGraphicFramePr>
          <p:cNvPr id="12" name="Table 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9218587"/>
              </p:ext>
            </p:extLst>
          </p:nvPr>
        </p:nvGraphicFramePr>
        <p:xfrm>
          <a:off x="457835" y="1770380"/>
          <a:ext cx="8422005" cy="1873250"/>
        </p:xfrm>
        <a:graphic>
          <a:graphicData uri="http://schemas.openxmlformats.org/drawingml/2006/table">
            <a:tbl>
              <a:tblPr/>
              <a:tblGrid>
                <a:gridCol w="3783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33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O</a:t>
                      </a:r>
                      <a:r>
                        <a:rPr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perating System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 </a:t>
                      </a:r>
                      <a:r>
                        <a:rPr sz="1800"/>
                        <a:t>Windows 11 or Above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Server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 </a:t>
                      </a:r>
                      <a:r>
                        <a:rPr sz="1800"/>
                        <a:t>Flask  (for interface/dashboard)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Programming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 </a:t>
                      </a:r>
                      <a:r>
                        <a:rPr sz="1800"/>
                        <a:t>Python 3.7 or Above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Front</a:t>
                      </a:r>
                      <a:r>
                        <a:rPr lang="en-IN"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End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 </a:t>
                      </a:r>
                      <a:r>
                        <a:rPr sz="1800"/>
                        <a:t>HTML </a:t>
                      </a:r>
                      <a:r>
                        <a:rPr lang="en-US" sz="1800"/>
                        <a:t>, </a:t>
                      </a:r>
                      <a:r>
                        <a:rPr sz="1800"/>
                        <a:t>CSS </a:t>
                      </a:r>
                      <a:r>
                        <a:rPr lang="en-US" sz="1800"/>
                        <a:t>, </a:t>
                      </a:r>
                      <a:r>
                        <a:rPr sz="1800"/>
                        <a:t>Bootstrap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 </a:t>
                      </a:r>
                      <a:r>
                        <a:rPr sz="1800"/>
                        <a:t>VS Code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Database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:   </a:t>
                      </a:r>
                      <a:r>
                        <a:rPr sz="1800" dirty="0"/>
                        <a:t>MySQL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 rot="10800000" flipV="1">
            <a:off x="238125" y="3472180"/>
            <a:ext cx="6873875" cy="7112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endParaRPr sz="1600" b="1" dirty="0"/>
          </a:p>
          <a:p>
            <a:pPr>
              <a:spcAft>
                <a:spcPct val="60000"/>
              </a:spcAft>
            </a:pPr>
            <a:r>
              <a:rPr sz="2000" b="1" u="sng" dirty="0"/>
              <a:t>Hardware Requirements</a:t>
            </a:r>
            <a:r>
              <a:rPr lang="en-US" sz="2000" b="1" u="sng" dirty="0"/>
              <a:t>:</a:t>
            </a:r>
          </a:p>
        </p:txBody>
      </p:sp>
      <p:graphicFrame>
        <p:nvGraphicFramePr>
          <p:cNvPr id="15" name="Table 14"/>
          <p:cNvGraphicFramePr/>
          <p:nvPr>
            <p:custDataLst>
              <p:tags r:id="rId2"/>
            </p:custDataLst>
          </p:nvPr>
        </p:nvGraphicFramePr>
        <p:xfrm>
          <a:off x="448310" y="4478020"/>
          <a:ext cx="7626985" cy="1438910"/>
        </p:xfrm>
        <a:graphic>
          <a:graphicData uri="http://schemas.openxmlformats.org/drawingml/2006/table">
            <a:tbl>
              <a:tblPr/>
              <a:tblGrid>
                <a:gridCol w="376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System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I</a:t>
                      </a:r>
                      <a:r>
                        <a:rPr sz="1800"/>
                        <a:t>ntel Core i</a:t>
                      </a:r>
                      <a:r>
                        <a:rPr lang="en-US" sz="1800"/>
                        <a:t>5</a:t>
                      </a:r>
                      <a:r>
                        <a:rPr sz="1800"/>
                        <a:t> or Higher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Hard Disk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 </a:t>
                      </a:r>
                      <a:r>
                        <a:rPr sz="1800"/>
                        <a:t>5</a:t>
                      </a:r>
                      <a:r>
                        <a:rPr lang="en-US" sz="1800"/>
                        <a:t>12</a:t>
                      </a:r>
                      <a:r>
                        <a:rPr sz="1800"/>
                        <a:t> GB (SSD Preferred)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RAM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:   </a:t>
                      </a:r>
                      <a:r>
                        <a:rPr sz="1800"/>
                        <a:t>8 GB Minimum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sz="11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02615"/>
          </a:xfrm>
        </p:spPr>
        <p:txBody>
          <a:bodyPr/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FEASIBILITY STUDY</a:t>
            </a: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8080"/>
            <a:ext cx="8229600" cy="4978400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A. Technical Feasibility:</a:t>
            </a: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system is technically feasible with existing AI/ML technologies, smart grid compatibility, and sufficient hardware support.</a:t>
            </a:r>
          </a:p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B. Economic Feasibility:</a:t>
            </a: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It is cost-effective by reducing theft losses and operational costs, and it scales efficiently for various grid sizes.</a:t>
            </a:r>
          </a:p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C. Operational Feasibility:</a:t>
            </a: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system is operationally viable with automated detection and user-friendly dashboards for seamless utility monitoring.</a:t>
            </a:r>
          </a:p>
          <a:p>
            <a:pPr marL="0" indent="0"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D. Legal Feasibility:</a:t>
            </a: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It complies with data privacy and energy regulations, ensuring secure and lawful electricity theft detection.</a:t>
            </a:r>
            <a:b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E. Schedule Feasibility:</a:t>
            </a: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system can be developed and implemented within 6–12 months with phased deployment for better adaptability.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946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MODULES DESCRIPTION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2865"/>
            <a:ext cx="8229600" cy="5241290"/>
          </a:xfrm>
        </p:spPr>
        <p:txBody>
          <a:bodyPr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Data Collection &amp; Input Module: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Collects smart meter electricity consumption data from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Handles raw data ingestion (CSV, database, or simulated).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Validates structure and handles missing input records.</a:t>
            </a:r>
          </a:p>
          <a:p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Preprocessing Module:</a:t>
            </a: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Cleanses the data by removing anomalies, filling missing values.</a:t>
            </a: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Applies SMOTE to handle class imbalance (theft vs. normal).</a:t>
            </a: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Normalizes and scales data for better ML performance.</a:t>
            </a:r>
          </a:p>
          <a:p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Feature Selection &amp; Extraction Module:</a:t>
            </a: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Identifies important features using statistical methods and model-based rankings.</a:t>
            </a: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Reduces dimensionality to improve model accuracy and training speed.</a:t>
            </a: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Prepares the dataset for input to machine learning algorithms.</a:t>
            </a: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02615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MODULES DESCRIPTION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792980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2000" b="1" u="sng">
                <a:latin typeface="Times New Roman" panose="02020603050405020304" charset="0"/>
                <a:cs typeface="Times New Roman" panose="02020603050405020304" charset="0"/>
              </a:rPr>
              <a:t>Model Training &amp; Prediction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Trains various ML classifiers (Decision Tree, Random Forest, SVM, ANN, XGBoost).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Evaluates models using metrics like Accuracy, Recall, and F1-score.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Predicts whether electricity usage is normal or fraudulent.</a:t>
            </a: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Visualization &amp; Dashboard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Built using Flask web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Displays prediction results, alerts for theft detection, and performance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Allows admin users to view usage data, track theft events, and monitor model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ER DIAGRAM</a:t>
            </a:r>
          </a:p>
        </p:txBody>
      </p:sp>
      <p:pic>
        <p:nvPicPr>
          <p:cNvPr id="4" name="Content Placeholder 3" descr="ER DIAGR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745" y="1429385"/>
            <a:ext cx="6332855" cy="4882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8460"/>
            <a:ext cx="8229600" cy="327660"/>
          </a:xfrm>
        </p:spPr>
        <p:txBody>
          <a:bodyPr>
            <a:normAutofit fontScale="90000"/>
          </a:bodyPr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UML DIAGRAMS</a:t>
            </a:r>
          </a:p>
        </p:txBody>
      </p:sp>
      <p:pic>
        <p:nvPicPr>
          <p:cNvPr id="5" name="Content Placeholder 4" descr="CLASS DIAGR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0350" y="1963420"/>
            <a:ext cx="5812155" cy="47447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38855" y="1154430"/>
            <a:ext cx="2184400" cy="467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Class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SECASE DIAGR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75385"/>
            <a:ext cx="4249420" cy="50571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4765" y="753110"/>
            <a:ext cx="4224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24765" y="135255"/>
            <a:ext cx="4064000" cy="618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/>
              <a:t>                      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 Use Case Diagram</a:t>
            </a:r>
          </a:p>
        </p:txBody>
      </p:sp>
      <p:pic>
        <p:nvPicPr>
          <p:cNvPr id="6" name="Content Placeholder 3" descr="ACTIVITY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855" y="753110"/>
            <a:ext cx="4633595" cy="60071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299710" y="135255"/>
            <a:ext cx="376174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/>
              <a:t>      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Activity Diagram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EQUENCE DIAGR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0510"/>
            <a:ext cx="4571365" cy="52412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7310" y="508000"/>
            <a:ext cx="4250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                   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 Sequence Diagram</a:t>
            </a:r>
          </a:p>
        </p:txBody>
      </p:sp>
      <p:pic>
        <p:nvPicPr>
          <p:cNvPr id="7" name="Content Placeholder 3" descr="COLLABORATION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65" y="1600200"/>
            <a:ext cx="4520565" cy="51816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291455" y="533400"/>
            <a:ext cx="3378200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/>
              <a:t>         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Collaboration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OMPONENT DIAGR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" y="1434465"/>
            <a:ext cx="4572635" cy="45897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19075" y="415290"/>
            <a:ext cx="4352925" cy="748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/>
              <a:t>                    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Component Diagram</a:t>
            </a:r>
          </a:p>
        </p:txBody>
      </p:sp>
      <p:pic>
        <p:nvPicPr>
          <p:cNvPr id="5" name="Content Placeholder 3" descr="DEPLOYMENT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810" y="1434465"/>
            <a:ext cx="4568190" cy="53428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850130" y="415290"/>
            <a:ext cx="409829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               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Deployment Diagram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71855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DFD DIAGRAM</a:t>
            </a:r>
            <a:endParaRPr lang="en-GB" altLang="en-US" sz="2400"/>
          </a:p>
        </p:txBody>
      </p:sp>
      <p:pic>
        <p:nvPicPr>
          <p:cNvPr id="7" name="Content Placeholder 6" descr="LEVEL 2 DF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3590" y="1515110"/>
            <a:ext cx="663321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965"/>
            <a:ext cx="8229600" cy="623570"/>
          </a:xfrm>
        </p:spPr>
        <p:txBody>
          <a:bodyPr/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735"/>
            <a:ext cx="8229600" cy="5359400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Developed using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in the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VS Code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environment with integrated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Flask 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     framework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for web-based deployment.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Allows administrators to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upload and analyze electricity consumption datasets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(CSV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     format) for theft detection.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Implements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data preprocessing: handling missing values, normalization using 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     MinMaxScaler, and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balancing using SMOTE.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Utilizes five machine learning models: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◆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XGBoost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– selected as the best model based on accuracy and recall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◆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Random Forest,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Decision Tree,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SVM, and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ANN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– for comparative evaluation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Includes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admin login authentication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and secure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role-based access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to ensure 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     restricted model use.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Predictions are displayed with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intuitive alerts and theft risk indicators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through a 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     web interface.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Designed with a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modular structure</a:t>
            </a:r>
            <a:r>
              <a:rPr lang="" altLang="en-US" sz="18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for scalability, allowing easy integration of 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     future theft detection techniques.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62255" y="404495"/>
            <a:ext cx="8728710" cy="690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RESULTS / </a:t>
            </a: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PERFORMANCE EVALUATION</a:t>
            </a:r>
            <a:endParaRPr lang="en-GB" altLang="en-US" sz="280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631825" y="1436370"/>
          <a:ext cx="7872095" cy="4869180"/>
        </p:xfrm>
        <a:graphic>
          <a:graphicData uri="http://schemas.openxmlformats.org/drawingml/2006/table">
            <a:tbl>
              <a:tblPr/>
              <a:tblGrid>
                <a:gridCol w="164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2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Model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Accuracy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Recall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Precision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F1-Score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Training Time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XGBoost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83.08%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Low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Random Forest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84.67%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Medium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Decision Tree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75.15%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Very Low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SVM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62.25%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ANN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53.37%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1042035"/>
          </a:xfrm>
        </p:spPr>
        <p:txBody>
          <a:bodyPr/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035"/>
            <a:ext cx="8229600" cy="5160010"/>
          </a:xfrm>
        </p:spPr>
        <p:txBody>
          <a:bodyPr>
            <a:normAutofit fontScale="25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The proposed system effectively detects electricity theft using advanced machine learning models, with XGBoost delivering the highest accuracy and recall.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Data imbalance, a major challenge in theft detection, was successfully handled using SMOTE, improving the system’s ability to detect minority theft 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Preprocessing, feature selection, and model evaluation pipelines were carefully designed to ensure robustness, scalability, and high classification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The Flask-based dashboard provides a real-time, user-friendly interface for administrators to monitor usage patterns and receive theft alerts.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Overall, the system demonstrates high accuracy, fast execution, and practical deployment capability for improving the resilience of modern smart grids.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755"/>
            <a:ext cx="8229600" cy="1080135"/>
          </a:xfrm>
        </p:spPr>
        <p:txBody>
          <a:bodyPr/>
          <a:lstStyle/>
          <a:p>
            <a:r>
              <a:rPr lang="en-US" alt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SCOPE FOR 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985"/>
            <a:ext cx="8229600" cy="5274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Real-Time Smart Meter Streaming Support:</a:t>
            </a: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The system can be extended to handle live streaming data from IoT-based smart meters, allowing real-time detection and alerting of fraudulent activities.</a:t>
            </a: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Geospatial and Customer Behavior Analysis:</a:t>
            </a: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Incorporating customer location data and historical behavioral patterns may improve detection accuracy and help identify regional theft trends.</a:t>
            </a: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Blockchain Integration for Data Security:</a:t>
            </a: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Blockchain can be used to securely log and validate electricity usage data, ensuring tamper-proof records and enhancing the transparency of the detection process.</a:t>
            </a: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Mobile-Based Admin Interface:</a:t>
            </a: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Developing a mobile-friendly dashboard or app can enable field operators and utility administrators to access theft alerts and reports on-the-go.</a:t>
            </a: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OF IMPLEMENTATION</a:t>
            </a:r>
            <a:endParaRPr lang="en-IN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HOME PAG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565" y="1422400"/>
            <a:ext cx="8247380" cy="47085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OF IMPLEMENTATION</a:t>
            </a:r>
            <a:endParaRPr lang="en-IN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VALUE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98905"/>
            <a:ext cx="8229600" cy="47917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OF IMPLEMENTATION</a:t>
            </a:r>
            <a:endParaRPr lang="en-GB" altLang="en-US" sz="2800"/>
          </a:p>
        </p:txBody>
      </p:sp>
      <p:pic>
        <p:nvPicPr>
          <p:cNvPr id="4" name="Content Placeholder 3" descr="NORMAL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955"/>
            <a:ext cx="8229600" cy="48152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SCREENSHOTS OF IMPLEMENTATION</a:t>
            </a:r>
          </a:p>
        </p:txBody>
      </p:sp>
      <p:pic>
        <p:nvPicPr>
          <p:cNvPr id="4" name="Content Placeholder 3" descr="THEF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46530"/>
            <a:ext cx="8229600" cy="48964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864870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AMPLE CODE</a:t>
            </a:r>
            <a:endParaRPr lang="en-GB" altLang="en-US" sz="28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2859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ml_model_training.py</a:t>
            </a:r>
            <a:b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pandas as pd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numpy as np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joblib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sklearn.model_selection import train_test_split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sklearn.preprocessing import StandardScaler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sklearn.metrics import accuracy_score, classification_report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sklearn.tree import DecisionTreeClassifier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sklearn.ensemble import RandomForestClassifier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sklearn.svm import SVC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xgboost as xgb</a:t>
            </a: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tensorflow import keras</a:t>
            </a:r>
            <a:b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755"/>
            <a:ext cx="8229600" cy="982980"/>
          </a:xfrm>
        </p:spPr>
        <p:txBody>
          <a:bodyPr/>
          <a:lstStyle/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A Comprehensive Review on Electricity Theft Detection using ML Techniques – IJERT, 2023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Smart Meter Based Frameworks for Theft Detection – Elsevier Energy Reports, 2022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Comparative Study on ML Classifiers for Power Theft – IEEE Access, 2022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Anomaly Detection Using XGBoost for Power Consumption – Springer, 2021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 Real-time Electricity Theft Monitoring via Smart Grids – IEEE IoT Journal, 2023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en-GB"/>
            </a:br>
            <a:r>
              <a:rPr lang="en-US" altLang="en-GB"/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0" y="-2476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1*482"/>
  <p:tag name="TABLE_ENDDRAG_RECT" val="8*56*701*48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8*125"/>
  <p:tag name="TABLE_ENDDRAG_RECT" val="20*139*678*1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1*95"/>
  <p:tag name="TABLE_ENDDRAG_RECT" val="14*352*621*9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9*383"/>
  <p:tag name="TABLE_ENDDRAG_RECT" val="49*113*619*3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1922</Words>
  <Application>Microsoft Office PowerPoint</Application>
  <PresentationFormat>On-screen Show (4:3)</PresentationFormat>
  <Paragraphs>310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Office Theme</vt:lpstr>
      <vt:lpstr>r</vt:lpstr>
      <vt:lpstr>CONTENTS</vt:lpstr>
      <vt:lpstr>ABSTRACT</vt:lpstr>
      <vt:lpstr>INTRODUCTION</vt:lpstr>
      <vt:lpstr>PowerPoint Presentation</vt:lpstr>
      <vt:lpstr>EXISTING SYSTEM</vt:lpstr>
      <vt:lpstr>PROPOSED SYSTEM</vt:lpstr>
      <vt:lpstr>ARCHITECTURAL DESIGN OF PROPOSED SYSTEM</vt:lpstr>
      <vt:lpstr>HARDWARE AND SOFTWARE REQUIREMENTS</vt:lpstr>
      <vt:lpstr>FEASIBILITY STUDY </vt:lpstr>
      <vt:lpstr>MODULES DESCRIPTION</vt:lpstr>
      <vt:lpstr>MODULES DESCRIPTION</vt:lpstr>
      <vt:lpstr>ER DIAGRAM</vt:lpstr>
      <vt:lpstr>UML DIAGRAMS</vt:lpstr>
      <vt:lpstr>PowerPoint Presentation</vt:lpstr>
      <vt:lpstr>PowerPoint Presentation</vt:lpstr>
      <vt:lpstr>PowerPoint Presentation</vt:lpstr>
      <vt:lpstr>DFD DIAGRAM</vt:lpstr>
      <vt:lpstr>SYSTEM IMPLEMENTATION</vt:lpstr>
      <vt:lpstr>PowerPoint Presentation</vt:lpstr>
      <vt:lpstr>CONCLUSION</vt:lpstr>
      <vt:lpstr>SCOPE FOR FUTURE ENHANCEMENT</vt:lpstr>
      <vt:lpstr>SCREENSHOTS OF IMPLEMENTATION</vt:lpstr>
      <vt:lpstr>SCREENSHOTS OF IMPLEMENTATION</vt:lpstr>
      <vt:lpstr>SCREENSHOTS OF IMPLEMENTATION</vt:lpstr>
      <vt:lpstr>SCREENSHOTS OF IMPLEMENTATION</vt:lpstr>
      <vt:lpstr>SAMPLE CODE</vt:lpstr>
      <vt:lpstr>REFERENCES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Baitinti Ganesh</cp:lastModifiedBy>
  <cp:revision>43</cp:revision>
  <dcterms:created xsi:type="dcterms:W3CDTF">2013-01-27T09:14:00Z</dcterms:created>
  <dcterms:modified xsi:type="dcterms:W3CDTF">2025-07-10T15:49:13Z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3EE3F412E6F648DEB835E15DDF32D631_13</vt:lpwstr>
  </property>
  <property fmtid="{D5CDD505-2E9C-101B-9397-08002B2CF9AE}" pid="3" name="KSOProductBuildVer">
    <vt:lpwstr>2057-12.2.0.21183</vt:lpwstr>
  </property>
</Properties>
</file>