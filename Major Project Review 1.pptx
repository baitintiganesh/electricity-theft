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78" r:id="rId4"/>
    <p:sldId id="257" r:id="rId5"/>
    <p:sldId id="258" r:id="rId6"/>
    <p:sldId id="259" r:id="rId7"/>
    <p:sldId id="260" r:id="rId8"/>
    <p:sldId id="262" r:id="rId9"/>
    <p:sldId id="263" r:id="rId10"/>
    <p:sldId id="275" r:id="rId11"/>
    <p:sldId id="264" r:id="rId12"/>
    <p:sldId id="266" r:id="rId13"/>
    <p:sldId id="280" r:id="rId14"/>
    <p:sldId id="279" r:id="rId15"/>
    <p:sldId id="270" r:id="rId16"/>
    <p:sldId id="271" r:id="rId17"/>
    <p:sldId id="273"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28" userDrawn="1">
          <p15:clr>
            <a:srgbClr val="A4A3A4"/>
          </p15:clr>
        </p15:guide>
        <p15:guide id="2" pos="289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80092213" name="Govardhan Reddicharla" initials="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C0C0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showGuides="1">
      <p:cViewPr varScale="1">
        <p:scale>
          <a:sx n="124" d="100"/>
          <a:sy n="124" d="100"/>
        </p:scale>
        <p:origin x="-1512" y="-112"/>
      </p:cViewPr>
      <p:guideLst>
        <p:guide orient="horz" pos="2228"/>
        <p:guide pos="2894"/>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ommentAuthors" Target="commentAuthors.xml"/><Relationship Id="rId21" Type="http://schemas.openxmlformats.org/officeDocument/2006/relationships/tableStyles" Target="tableStyles.xml"/><Relationship Id="rId20" Type="http://schemas.openxmlformats.org/officeDocument/2006/relationships/viewProps" Target="viewProps.xml"/><Relationship Id="rId2" Type="http://schemas.openxmlformats.org/officeDocument/2006/relationships/theme" Target="theme/theme1.xml"/><Relationship Id="rId19" Type="http://schemas.openxmlformats.org/officeDocument/2006/relationships/presProps" Target="presProps.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tags" Target="../tags/tag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3810" y="-635"/>
            <a:ext cx="9147175" cy="1831340"/>
          </a:xfrm>
        </p:spPr>
        <p:txBody>
          <a:bodyPr>
            <a:normAutofit/>
          </a:bodyPr>
          <a:lstStyle/>
          <a:p>
            <a:r>
              <a:rPr lang="en-US" sz="3555">
                <a:latin typeface="Times New Roman" panose="02020603050405020304" charset="0"/>
                <a:cs typeface="Times New Roman" panose="02020603050405020304" charset="0"/>
              </a:rPr>
              <a:t>r</a:t>
            </a:r>
            <a:endParaRPr lang="en-US" sz="3555">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0" y="4637405"/>
            <a:ext cx="3944620" cy="1208405"/>
          </a:xfrm>
        </p:spPr>
        <p:txBody>
          <a:bodyPr>
            <a:normAutofit lnSpcReduction="10000"/>
          </a:bodyPr>
          <a:lstStyle/>
          <a:p>
            <a:pPr marL="0" indent="0">
              <a:buNone/>
            </a:pPr>
            <a:r>
              <a:rPr lang="en-US"/>
              <a:t>                                                                                         </a:t>
            </a:r>
            <a:endParaRPr lang="en-US"/>
          </a:p>
          <a:p>
            <a:pPr marL="0" indent="0">
              <a:buNone/>
            </a:pPr>
            <a:r>
              <a:rPr lang="en-US"/>
              <a:t>                               </a:t>
            </a:r>
            <a:endParaRPr lang="en-US"/>
          </a:p>
        </p:txBody>
      </p:sp>
      <p:pic>
        <p:nvPicPr>
          <p:cNvPr id="4" name="Picture 3" descr="Blue text on a white background&#10;&#10;Description automatically generated"/>
          <p:cNvPicPr>
            <a:picLocks noChangeAspect="1"/>
          </p:cNvPicPr>
          <p:nvPr/>
        </p:nvPicPr>
        <p:blipFill>
          <a:blip r:embed="rId1">
            <a:extLst>
              <a:ext uri="{28A0092B-C50C-407E-A947-70E740481C1C}">
                <a14:useLocalDpi xmlns:a14="http://schemas.microsoft.com/office/drawing/2010/main" val="0"/>
              </a:ext>
            </a:extLst>
          </a:blip>
          <a:srcRect r="11232"/>
          <a:stretch>
            <a:fillRect/>
          </a:stretch>
        </p:blipFill>
        <p:spPr>
          <a:xfrm>
            <a:off x="182880" y="116205"/>
            <a:ext cx="8130540" cy="1362075"/>
          </a:xfrm>
          <a:prstGeom prst="rect">
            <a:avLst/>
          </a:prstGeom>
        </p:spPr>
      </p:pic>
      <p:sp>
        <p:nvSpPr>
          <p:cNvPr id="7" name="Text Box 6"/>
          <p:cNvSpPr txBox="1"/>
          <p:nvPr/>
        </p:nvSpPr>
        <p:spPr>
          <a:xfrm>
            <a:off x="786130" y="2677795"/>
            <a:ext cx="7722870" cy="1536065"/>
          </a:xfrm>
          <a:prstGeom prst="rect">
            <a:avLst/>
          </a:prstGeom>
          <a:noFill/>
        </p:spPr>
        <p:txBody>
          <a:bodyPr wrap="square" rtlCol="0" anchor="t">
            <a:noAutofit/>
          </a:bodyPr>
          <a:p>
            <a:pPr algn="l"/>
            <a:r>
              <a:rPr lang="en-US" sz="3600">
                <a:sym typeface="+mn-ea"/>
              </a:rPr>
              <a:t>    </a:t>
            </a:r>
            <a:r>
              <a:rPr sz="2800">
                <a:latin typeface="Times New Roman" panose="02020603050405020304" charset="0"/>
                <a:cs typeface="Times New Roman" panose="02020603050405020304" charset="0"/>
                <a:sym typeface="+mn-ea"/>
              </a:rPr>
              <a:t>Robust Data-Driven Analysis for Electricity Theft </a:t>
            </a:r>
            <a:endParaRPr sz="2800">
              <a:latin typeface="Times New Roman" panose="02020603050405020304" charset="0"/>
              <a:cs typeface="Times New Roman" panose="02020603050405020304" charset="0"/>
              <a:sym typeface="+mn-ea"/>
            </a:endParaRPr>
          </a:p>
          <a:p>
            <a:pPr algn="l"/>
            <a:r>
              <a:rPr sz="2800">
                <a:latin typeface="Times New Roman" panose="02020603050405020304" charset="0"/>
                <a:cs typeface="Times New Roman" panose="02020603050405020304" charset="0"/>
                <a:sym typeface="+mn-ea"/>
              </a:rPr>
              <a:t> </a:t>
            </a:r>
            <a:r>
              <a:rPr lang="en-US" sz="2800">
                <a:latin typeface="Times New Roman" panose="02020603050405020304" charset="0"/>
                <a:cs typeface="Times New Roman" panose="02020603050405020304" charset="0"/>
                <a:sym typeface="+mn-ea"/>
              </a:rPr>
              <a:t>                    </a:t>
            </a:r>
            <a:r>
              <a:rPr sz="2800">
                <a:latin typeface="Times New Roman" panose="02020603050405020304" charset="0"/>
                <a:cs typeface="Times New Roman" panose="02020603050405020304" charset="0"/>
                <a:sym typeface="+mn-ea"/>
              </a:rPr>
              <a:t>Attack-Resilient Power Grid</a:t>
            </a:r>
            <a:endParaRPr lang="en-US" altLang="en-US" sz="2800" dirty="0">
              <a:gradFill>
                <a:gsLst>
                  <a:gs pos="0">
                    <a:srgbClr val="012D86"/>
                  </a:gs>
                  <a:gs pos="100000">
                    <a:srgbClr val="0E2557"/>
                  </a:gs>
                </a:gsLst>
                <a:lin scaled="0"/>
              </a:gradFill>
              <a:effectLst/>
              <a:latin typeface="Times New Roman" panose="02020603050405020304" charset="0"/>
              <a:ea typeface="Times New Roman" panose="02020603050405020304" charset="0"/>
              <a:cs typeface="Times New Roman" panose="02020603050405020304" charset="0"/>
              <a:sym typeface="+mn-ea"/>
            </a:endParaRPr>
          </a:p>
        </p:txBody>
      </p:sp>
      <p:sp>
        <p:nvSpPr>
          <p:cNvPr id="8" name="Text Box 7"/>
          <p:cNvSpPr txBox="1"/>
          <p:nvPr/>
        </p:nvSpPr>
        <p:spPr>
          <a:xfrm>
            <a:off x="205740" y="4979035"/>
            <a:ext cx="3103880" cy="866775"/>
          </a:xfrm>
          <a:prstGeom prst="rect">
            <a:avLst/>
          </a:prstGeom>
          <a:noFill/>
        </p:spPr>
        <p:txBody>
          <a:bodyPr wrap="square" rtlCol="0">
            <a:noAutofit/>
          </a:bodyPr>
          <a:p>
            <a:pPr algn="ctr"/>
            <a:r>
              <a:rPr lang="en-US" altLang="en-GB" b="1"/>
              <a:t>     </a:t>
            </a:r>
            <a:r>
              <a:rPr lang="en-US" altLang="en-GB" b="1" u="sng"/>
              <a:t>P</a:t>
            </a:r>
            <a:r>
              <a:rPr lang="en-US" altLang="en-GB" b="1" u="sng"/>
              <a:t>resentation By: </a:t>
            </a:r>
            <a:endParaRPr lang="en-US" altLang="en-GB" b="1" u="sng"/>
          </a:p>
          <a:p>
            <a:pPr algn="ctr"/>
            <a:r>
              <a:rPr lang="en-US" altLang="en-GB"/>
              <a:t>    </a:t>
            </a:r>
            <a:r>
              <a:rPr lang="en-US" altLang="en-GB" sz="1600"/>
              <a:t>Govardhan Reddicharla</a:t>
            </a:r>
            <a:endParaRPr lang="en-US" altLang="en-GB" sz="1600"/>
          </a:p>
          <a:p>
            <a:pPr algn="ctr"/>
            <a:r>
              <a:rPr lang="en-US" altLang="en-GB" sz="1600"/>
              <a:t>    Roll No: 23691f0049</a:t>
            </a:r>
            <a:endParaRPr lang="en-US" altLang="en-GB" sz="1600"/>
          </a:p>
        </p:txBody>
      </p:sp>
      <p:sp>
        <p:nvSpPr>
          <p:cNvPr id="9" name="Text Box 8"/>
          <p:cNvSpPr txBox="1"/>
          <p:nvPr/>
        </p:nvSpPr>
        <p:spPr>
          <a:xfrm flipH="1">
            <a:off x="4960620" y="4965065"/>
            <a:ext cx="3946525" cy="1146175"/>
          </a:xfrm>
          <a:prstGeom prst="rect">
            <a:avLst/>
          </a:prstGeom>
          <a:noFill/>
        </p:spPr>
        <p:txBody>
          <a:bodyPr wrap="square" rtlCol="0" anchor="t">
            <a:noAutofit/>
          </a:bodyPr>
          <a:p>
            <a:pPr algn="ctr"/>
            <a:r>
              <a:rPr lang="en-US" altLang="en-GB" b="1"/>
              <a:t>               </a:t>
            </a:r>
            <a:r>
              <a:rPr lang="en-US" altLang="en-GB" b="1" u="sng"/>
              <a:t>Under The Guidance of:</a:t>
            </a:r>
            <a:endParaRPr lang="en-US" altLang="en-GB" b="1"/>
          </a:p>
          <a:p>
            <a:pPr algn="ctr"/>
            <a:r>
              <a:rPr lang="en-US" altLang="en-GB"/>
              <a:t>          </a:t>
            </a:r>
            <a:r>
              <a:rPr lang="en-US" altLang="en-GB" sz="1600"/>
              <a:t>Dr.Srinivasan J </a:t>
            </a:r>
            <a:endParaRPr lang="en-US" altLang="en-GB" sz="1600"/>
          </a:p>
          <a:p>
            <a:pPr algn="ctr"/>
            <a:r>
              <a:rPr lang="en-US" altLang="en-GB" sz="1600"/>
              <a:t>             Assistant Professor</a:t>
            </a:r>
            <a:endParaRPr lang="en-US" altLang="en-GB" sz="1600"/>
          </a:p>
          <a:p>
            <a:pPr algn="ctr"/>
            <a:r>
              <a:rPr lang="en-US" altLang="en-GB" sz="1600"/>
              <a:t>           Department of Computer Applications</a:t>
            </a:r>
            <a:endParaRPr lang="en-US" altLang="en-GB" sz="1600"/>
          </a:p>
        </p:txBody>
      </p:sp>
      <p:sp>
        <p:nvSpPr>
          <p:cNvPr id="5" name="Text Box 4"/>
          <p:cNvSpPr txBox="1"/>
          <p:nvPr/>
        </p:nvSpPr>
        <p:spPr>
          <a:xfrm>
            <a:off x="2955290" y="1223010"/>
            <a:ext cx="5021580" cy="549275"/>
          </a:xfrm>
          <a:prstGeom prst="rect">
            <a:avLst/>
          </a:prstGeom>
          <a:noFill/>
        </p:spPr>
        <p:txBody>
          <a:bodyPr wrap="square" rtlCol="0">
            <a:noAutofit/>
          </a:bodyPr>
          <a:p>
            <a:r>
              <a:rPr lang="en-US" altLang="en-GB" sz="2000">
                <a:solidFill>
                  <a:srgbClr val="FF0000"/>
                </a:solidFill>
                <a:latin typeface="Times New Roman" panose="02020603050405020304" charset="0"/>
                <a:cs typeface="Times New Roman" panose="02020603050405020304" charset="0"/>
                <a:sym typeface="+mn-ea"/>
              </a:rPr>
              <a:t>Department of Computer Applications</a:t>
            </a:r>
            <a:endParaRPr lang="en-US" altLang="en-GB" sz="2000">
              <a:solidFill>
                <a:srgbClr val="FF0000"/>
              </a:solidFill>
              <a:latin typeface="Times New Roman" panose="02020603050405020304" charset="0"/>
              <a:cs typeface="Times New Roman" panose="02020603050405020304" charset="0"/>
              <a:sym typeface="+mn-ea"/>
            </a:endParaRPr>
          </a:p>
        </p:txBody>
      </p:sp>
      <p:sp>
        <p:nvSpPr>
          <p:cNvPr id="6" name="Text Box 5"/>
          <p:cNvSpPr txBox="1"/>
          <p:nvPr/>
        </p:nvSpPr>
        <p:spPr>
          <a:xfrm>
            <a:off x="183515" y="4140200"/>
            <a:ext cx="8723630" cy="398780"/>
          </a:xfrm>
          <a:prstGeom prst="rect">
            <a:avLst/>
          </a:prstGeom>
          <a:noFill/>
        </p:spPr>
        <p:txBody>
          <a:bodyPr wrap="square" rtlCol="0">
            <a:spAutoFit/>
          </a:bodyPr>
          <a:p>
            <a:pPr algn="ctr"/>
            <a:r>
              <a:rPr lang="en-US" altLang="en-GB"/>
              <a:t>  </a:t>
            </a:r>
            <a:r>
              <a:rPr lang="en-US" altLang="en-GB" sz="2000" b="1">
                <a:solidFill>
                  <a:schemeClr val="accent6">
                    <a:lumMod val="75000"/>
                  </a:schemeClr>
                </a:solidFill>
              </a:rPr>
              <a:t>Review -</a:t>
            </a:r>
            <a:r>
              <a:rPr lang="en-US" altLang="en-GB" b="1">
                <a:solidFill>
                  <a:schemeClr val="accent6">
                    <a:lumMod val="75000"/>
                  </a:schemeClr>
                </a:solidFill>
              </a:rPr>
              <a:t> </a:t>
            </a:r>
            <a:r>
              <a:rPr lang="en-US" altLang="en-GB" b="1">
                <a:solidFill>
                  <a:schemeClr val="accent6">
                    <a:lumMod val="75000"/>
                  </a:schemeClr>
                </a:solidFill>
                <a:latin typeface="Arial" panose="020B0604020202020204" pitchFamily="34" charset="0"/>
                <a:cs typeface="Arial" panose="020B0604020202020204" pitchFamily="34" charset="0"/>
              </a:rPr>
              <a:t>׀</a:t>
            </a:r>
            <a:endParaRPr lang="en-US" altLang="en-GB" b="1">
              <a:solidFill>
                <a:schemeClr val="accent6">
                  <a:lumMod val="75000"/>
                </a:schemeClr>
              </a:solidFill>
              <a:latin typeface="Arial" panose="020B0604020202020204" pitchFamily="34" charset="0"/>
              <a:cs typeface="Arial" panose="020B06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GB" sz="4000"/>
              <a:t>Contents</a:t>
            </a:r>
            <a:endParaRPr lang="en-US" altLang="en-GB" sz="4000"/>
          </a:p>
        </p:txBody>
      </p:sp>
      <p:sp>
        <p:nvSpPr>
          <p:cNvPr id="3" name="Content Placeholder 2"/>
          <p:cNvSpPr>
            <a:spLocks noGrp="1"/>
          </p:cNvSpPr>
          <p:nvPr>
            <p:ph idx="1"/>
          </p:nvPr>
        </p:nvSpPr>
        <p:spPr/>
        <p:txBody>
          <a:bodyPr/>
          <a:p>
            <a:pPr>
              <a:buFont typeface="Wingdings" panose="05000000000000000000" charset="0"/>
              <a:buChar char="Ø"/>
            </a:pPr>
            <a:r>
              <a:rPr lang="en-US" altLang="en-GB" sz="2000" b="1">
                <a:latin typeface="Times New Roman" panose="02020603050405020304" charset="0"/>
                <a:cs typeface="Times New Roman" panose="02020603050405020304" charset="0"/>
              </a:rPr>
              <a:t>Introduction</a:t>
            </a:r>
            <a:endParaRPr lang="en-US" altLang="en-GB" sz="2000" b="1">
              <a:latin typeface="Times New Roman" panose="02020603050405020304" charset="0"/>
              <a:cs typeface="Times New Roman" panose="02020603050405020304" charset="0"/>
            </a:endParaRPr>
          </a:p>
          <a:p>
            <a:pPr lvl="1" algn="l">
              <a:buFont typeface="Arial" panose="020B0604020202020204" pitchFamily="34" charset="0"/>
              <a:buChar char="•"/>
            </a:pPr>
            <a:r>
              <a:rPr lang="en-US" altLang="en-GB" sz="1750">
                <a:latin typeface="Times New Roman" panose="02020603050405020304" charset="0"/>
                <a:cs typeface="Times New Roman" panose="02020603050405020304" charset="0"/>
              </a:rPr>
              <a:t>Overview of the project </a:t>
            </a:r>
            <a:endParaRPr lang="en-US" altLang="en-GB" sz="1750">
              <a:latin typeface="Times New Roman" panose="02020603050405020304" charset="0"/>
              <a:cs typeface="Times New Roman" panose="02020603050405020304" charset="0"/>
            </a:endParaRPr>
          </a:p>
          <a:p>
            <a:pPr lvl="1" algn="l">
              <a:buFont typeface="Arial" panose="020B0604020202020204" pitchFamily="34" charset="0"/>
              <a:buChar char="•"/>
            </a:pPr>
            <a:r>
              <a:rPr lang="en-US" altLang="en-GB" sz="1750">
                <a:latin typeface="Times New Roman" panose="02020603050405020304" charset="0"/>
                <a:cs typeface="Times New Roman" panose="02020603050405020304" charset="0"/>
              </a:rPr>
              <a:t>Problem statement </a:t>
            </a:r>
            <a:endParaRPr lang="en-US" altLang="en-GB" sz="1750">
              <a:latin typeface="Times New Roman" panose="02020603050405020304" charset="0"/>
              <a:cs typeface="Times New Roman" panose="02020603050405020304" charset="0"/>
            </a:endParaRPr>
          </a:p>
          <a:p>
            <a:pPr lvl="1" algn="l">
              <a:buFont typeface="Arial" panose="020B0604020202020204" pitchFamily="34" charset="0"/>
              <a:buChar char="•"/>
            </a:pPr>
            <a:r>
              <a:rPr lang="en-US" altLang="en-GB" sz="1750">
                <a:latin typeface="Times New Roman" panose="02020603050405020304" charset="0"/>
                <a:cs typeface="Times New Roman" panose="02020603050405020304" charset="0"/>
              </a:rPr>
              <a:t>Objectives of the project </a:t>
            </a:r>
            <a:endParaRPr lang="en-US" altLang="en-GB" sz="1750">
              <a:latin typeface="Times New Roman" panose="02020603050405020304" charset="0"/>
              <a:cs typeface="Times New Roman" panose="02020603050405020304" charset="0"/>
            </a:endParaRPr>
          </a:p>
          <a:p>
            <a:pPr lvl="1" algn="l">
              <a:buFont typeface="Arial" panose="020B0604020202020204" pitchFamily="34" charset="0"/>
              <a:buChar char="•"/>
            </a:pPr>
            <a:r>
              <a:rPr lang="en-US" altLang="en-GB" sz="1750">
                <a:latin typeface="Times New Roman" panose="02020603050405020304" charset="0"/>
                <a:cs typeface="Times New Roman" panose="02020603050405020304" charset="0"/>
              </a:rPr>
              <a:t>Scope of the project </a:t>
            </a:r>
            <a:endParaRPr lang="en-US" altLang="en-GB" sz="1750">
              <a:latin typeface="Times New Roman" panose="02020603050405020304" charset="0"/>
              <a:cs typeface="Times New Roman" panose="02020603050405020304" charset="0"/>
            </a:endParaRPr>
          </a:p>
          <a:p>
            <a:pPr lvl="1" algn="l">
              <a:buFont typeface="Arial" panose="020B0604020202020204" pitchFamily="34" charset="0"/>
              <a:buChar char="•"/>
            </a:pPr>
            <a:r>
              <a:rPr lang="en-US" altLang="en-GB" sz="1800">
                <a:latin typeface="Times New Roman" panose="02020603050405020304" charset="0"/>
                <a:cs typeface="Times New Roman" panose="02020603050405020304" charset="0"/>
              </a:rPr>
              <a:t>Methodology</a:t>
            </a:r>
            <a:endParaRPr lang="en-US" altLang="en-GB" sz="1800">
              <a:latin typeface="Times New Roman" panose="02020603050405020304" charset="0"/>
              <a:cs typeface="Times New Roman" panose="02020603050405020304" charset="0"/>
            </a:endParaRPr>
          </a:p>
          <a:p>
            <a:pPr>
              <a:buFont typeface="Wingdings" panose="05000000000000000000" charset="0"/>
              <a:buChar char="Ø"/>
            </a:pPr>
            <a:r>
              <a:rPr lang="en-US" altLang="en-GB" sz="2000" b="1">
                <a:latin typeface="Times New Roman" panose="02020603050405020304" charset="0"/>
                <a:cs typeface="Times New Roman" panose="02020603050405020304" charset="0"/>
              </a:rPr>
              <a:t>Literature survey</a:t>
            </a:r>
            <a:endParaRPr lang="en-US" altLang="en-GB" sz="2000" b="1">
              <a:latin typeface="Times New Roman" panose="02020603050405020304" charset="0"/>
              <a:cs typeface="Times New Roman" panose="02020603050405020304" charset="0"/>
            </a:endParaRPr>
          </a:p>
          <a:p>
            <a:pPr>
              <a:buFont typeface="Wingdings" panose="05000000000000000000" charset="0"/>
              <a:buChar char="Ø"/>
            </a:pPr>
            <a:r>
              <a:rPr lang="en-US" altLang="en-GB" sz="2000" b="1">
                <a:latin typeface="Times New Roman" panose="02020603050405020304" charset="0"/>
                <a:cs typeface="Times New Roman" panose="02020603050405020304" charset="0"/>
              </a:rPr>
              <a:t>Existing system</a:t>
            </a:r>
            <a:endParaRPr lang="en-US" altLang="en-GB" sz="2000" b="1">
              <a:latin typeface="Times New Roman" panose="02020603050405020304" charset="0"/>
              <a:cs typeface="Times New Roman" panose="02020603050405020304" charset="0"/>
            </a:endParaRPr>
          </a:p>
          <a:p>
            <a:pPr>
              <a:buFont typeface="Wingdings" panose="05000000000000000000" charset="0"/>
              <a:buChar char="Ø"/>
            </a:pPr>
            <a:r>
              <a:rPr lang="en-US" altLang="en-GB" sz="2000" b="1">
                <a:latin typeface="Times New Roman" panose="02020603050405020304" charset="0"/>
                <a:cs typeface="Times New Roman" panose="02020603050405020304" charset="0"/>
              </a:rPr>
              <a:t>Proposed system</a:t>
            </a:r>
            <a:endParaRPr lang="en-US" altLang="en-GB" sz="2000" b="1">
              <a:latin typeface="Times New Roman" panose="02020603050405020304" charset="0"/>
              <a:cs typeface="Times New Roman" panose="02020603050405020304" charset="0"/>
            </a:endParaRPr>
          </a:p>
          <a:p>
            <a:pPr>
              <a:buFont typeface="Wingdings" panose="05000000000000000000" charset="0"/>
              <a:buChar char="Ø"/>
            </a:pPr>
            <a:r>
              <a:rPr lang="en-US" altLang="en-GB" sz="2000" b="1">
                <a:latin typeface="Times New Roman" panose="02020603050405020304" charset="0"/>
                <a:cs typeface="Times New Roman" panose="02020603050405020304" charset="0"/>
              </a:rPr>
              <a:t>Modules split up</a:t>
            </a:r>
            <a:endParaRPr lang="en-US" altLang="en-GB" sz="2000" b="1">
              <a:latin typeface="Times New Roman" panose="02020603050405020304" charset="0"/>
              <a:cs typeface="Times New Roman" panose="02020603050405020304" charset="0"/>
            </a:endParaRPr>
          </a:p>
          <a:p>
            <a:pPr>
              <a:buFont typeface="Wingdings" panose="05000000000000000000" charset="0"/>
              <a:buChar char="Ø"/>
            </a:pPr>
            <a:r>
              <a:rPr lang="en-US" altLang="en-GB" sz="2000" b="1">
                <a:latin typeface="Times New Roman" panose="02020603050405020304" charset="0"/>
                <a:cs typeface="Times New Roman" panose="02020603050405020304" charset="0"/>
              </a:rPr>
              <a:t>Requirements</a:t>
            </a:r>
            <a:endParaRPr lang="en-US" altLang="en-GB" sz="2000" b="1">
              <a:latin typeface="Times New Roman" panose="02020603050405020304" charset="0"/>
              <a:cs typeface="Times New Roman" panose="02020603050405020304" charset="0"/>
            </a:endParaRPr>
          </a:p>
          <a:p>
            <a:pPr>
              <a:buFont typeface="Wingdings" panose="05000000000000000000" charset="0"/>
              <a:buChar char="Ø"/>
            </a:pPr>
            <a:r>
              <a:rPr lang="en-US" altLang="en-GB" sz="2000" b="1">
                <a:latin typeface="Times New Roman" panose="02020603050405020304" charset="0"/>
                <a:cs typeface="Times New Roman" panose="02020603050405020304" charset="0"/>
              </a:rPr>
              <a:t>References</a:t>
            </a:r>
            <a:endParaRPr lang="en-US" altLang="en-GB" sz="2000" b="1">
              <a:latin typeface="Times New Roman" panose="02020603050405020304" charset="0"/>
              <a:cs typeface="Times New Roman" panose="02020603050405020304" charset="0"/>
            </a:endParaRPr>
          </a:p>
          <a:p>
            <a:endParaRPr lang="en-US" altLang="en-GB" sz="2000">
              <a:latin typeface="Times New Roman" panose="02020603050405020304" charset="0"/>
              <a:cs typeface="Times New Roman" panose="02020603050405020304" charset="0"/>
            </a:endParaRPr>
          </a:p>
          <a:p>
            <a:endParaRPr lang="en-US" altLang="en-GB" sz="2000">
              <a:latin typeface="Times New Roman" panose="02020603050405020304" charset="0"/>
              <a:cs typeface="Times New Roman" panose="02020603050405020304" charset="0"/>
            </a:endParaRPr>
          </a:p>
          <a:p>
            <a:endParaRPr lang="en-US" altLang="en-GB" sz="200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457200" y="1456690"/>
            <a:ext cx="8229600" cy="4900930"/>
          </a:xfrm>
        </p:spPr>
        <p:txBody>
          <a:bodyPr>
            <a:normAutofit/>
          </a:bodyPr>
          <a:lstStyle/>
          <a:p/>
          <a:p>
            <a:pPr marL="0" indent="0" algn="l">
              <a:buNone/>
            </a:pPr>
            <a:r>
              <a:rPr lang="en-US" sz="2400">
                <a:latin typeface="Times New Roman" panose="02020603050405020304" charset="0"/>
                <a:cs typeface="Times New Roman" panose="02020603050405020304" charset="0"/>
              </a:rPr>
              <a:t>                          </a:t>
            </a:r>
            <a:endParaRPr lang="en-US" sz="2400">
              <a:latin typeface="Times New Roman" panose="02020603050405020304" charset="0"/>
              <a:cs typeface="Times New Roman" panose="02020603050405020304" charset="0"/>
            </a:endParaRPr>
          </a:p>
          <a:p>
            <a:pPr marL="0" indent="0" algn="l">
              <a:buNone/>
            </a:pPr>
            <a:r>
              <a:rPr lang="en-US" sz="2400">
                <a:latin typeface="Times New Roman" panose="02020603050405020304" charset="0"/>
                <a:cs typeface="Times New Roman" panose="02020603050405020304" charset="0"/>
              </a:rPr>
              <a:t> </a:t>
            </a:r>
            <a:endParaRPr lang="en-US" sz="2400">
              <a:latin typeface="Times New Roman" panose="02020603050405020304" charset="0"/>
              <a:cs typeface="Times New Roman" panose="02020603050405020304" charset="0"/>
            </a:endParaRPr>
          </a:p>
          <a:p>
            <a:pPr marL="0" indent="0" algn="l">
              <a:buNone/>
            </a:pPr>
            <a:endParaRPr lang="en-US" sz="2400">
              <a:latin typeface="Times New Roman" panose="02020603050405020304" charset="0"/>
              <a:cs typeface="Times New Roman" panose="02020603050405020304" charset="0"/>
            </a:endParaRPr>
          </a:p>
          <a:p>
            <a:pPr marL="0" indent="0" algn="l">
              <a:buNone/>
            </a:pPr>
            <a:r>
              <a:rPr lang="en-US" sz="2400">
                <a:latin typeface="Times New Roman" panose="02020603050405020304" charset="0"/>
                <a:cs typeface="Times New Roman" panose="02020603050405020304" charset="0"/>
              </a:rPr>
              <a:t>                            </a:t>
            </a:r>
            <a:endParaRPr lang="en-US" sz="4800">
              <a:latin typeface="Times New Roman" panose="02020603050405020304" charset="0"/>
              <a:cs typeface="Times New Roman" panose="02020603050405020304" charset="0"/>
            </a:endParaRPr>
          </a:p>
        </p:txBody>
      </p:sp>
      <p:sp>
        <p:nvSpPr>
          <p:cNvPr id="4" name="Text Box 3"/>
          <p:cNvSpPr txBox="1"/>
          <p:nvPr/>
        </p:nvSpPr>
        <p:spPr>
          <a:xfrm>
            <a:off x="466725" y="2954655"/>
            <a:ext cx="8254365" cy="583565"/>
          </a:xfrm>
          <a:prstGeom prst="rect">
            <a:avLst/>
          </a:prstGeom>
          <a:noFill/>
        </p:spPr>
        <p:txBody>
          <a:bodyPr wrap="square" rtlCol="0" anchor="t">
            <a:spAutoFit/>
          </a:bodyPr>
          <a:p>
            <a:pPr marL="0" indent="0" algn="l">
              <a:buNone/>
            </a:pPr>
            <a:r>
              <a:rPr lang="en-US" sz="2400">
                <a:latin typeface="Times New Roman" panose="02020603050405020304" charset="0"/>
                <a:cs typeface="Times New Roman" panose="02020603050405020304" charset="0"/>
                <a:sym typeface="+mn-ea"/>
              </a:rPr>
              <a:t>                                 </a:t>
            </a:r>
            <a:r>
              <a:rPr lang="en-US" sz="3200">
                <a:solidFill>
                  <a:srgbClr val="7030A0"/>
                </a:solidFill>
                <a:latin typeface="Times New Roman" panose="02020603050405020304" charset="0"/>
                <a:cs typeface="Times New Roman" panose="02020603050405020304" charset="0"/>
                <a:sym typeface="+mn-ea"/>
              </a:rPr>
              <a:t>INTRODUCTION</a:t>
            </a:r>
            <a:endParaRPr lang="en-US" altLang="en-US" sz="3200">
              <a:solidFill>
                <a:srgbClr val="7030A0"/>
              </a:solidFill>
              <a:latin typeface="Times New Roman" panose="02020603050405020304" charset="0"/>
              <a:cs typeface="Times New Roman" panose="02020603050405020304" charset="0"/>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1311910"/>
          </a:xfrm>
        </p:spPr>
        <p:txBody>
          <a:bodyPr/>
          <a:lstStyle/>
          <a:p>
            <a:r>
              <a:rPr sz="3600">
                <a:latin typeface="Times New Roman" panose="02020603050405020304" charset="0"/>
                <a:cs typeface="Times New Roman" panose="02020603050405020304" charset="0"/>
              </a:rPr>
              <a:t>Overview of the Project</a:t>
            </a:r>
            <a:endParaRPr sz="36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291590"/>
            <a:ext cx="8229600" cy="4318635"/>
          </a:xfrm>
        </p:spPr>
        <p:txBody>
          <a:bodyPr>
            <a:normAutofit/>
          </a:bodyPr>
          <a:lstStyle/>
          <a:p/>
          <a:p>
            <a:r>
              <a:rPr sz="2220">
                <a:latin typeface="Times New Roman" panose="02020603050405020304" charset="0"/>
                <a:cs typeface="Times New Roman" panose="02020603050405020304" charset="0"/>
              </a:rPr>
              <a:t>This project proposes a machine learning-based solution to identify and prevent electricity theft in smart power grids.</a:t>
            </a:r>
            <a:endParaRPr sz="2220">
              <a:latin typeface="Times New Roman" panose="02020603050405020304" charset="0"/>
              <a:cs typeface="Times New Roman" panose="02020603050405020304" charset="0"/>
            </a:endParaRPr>
          </a:p>
          <a:p>
            <a:r>
              <a:rPr sz="2220">
                <a:latin typeface="Times New Roman" panose="02020603050405020304" charset="0"/>
                <a:cs typeface="Times New Roman" panose="02020603050405020304" charset="0"/>
              </a:rPr>
              <a:t>It integrates advanced data analytics, preprocessing techniques, feature engineering, and modern classification models like Random Forest, XGBoost, SVM, and ANN.</a:t>
            </a:r>
            <a:endParaRPr sz="2220">
              <a:latin typeface="Times New Roman" panose="02020603050405020304" charset="0"/>
              <a:cs typeface="Times New Roman" panose="02020603050405020304" charset="0"/>
            </a:endParaRPr>
          </a:p>
          <a:p>
            <a:r>
              <a:rPr sz="2220">
                <a:latin typeface="Times New Roman" panose="02020603050405020304" charset="0"/>
                <a:cs typeface="Times New Roman" panose="02020603050405020304" charset="0"/>
              </a:rPr>
              <a:t>We balance the dataset using SMOTE to improve model generalization. The best-performing model is deployed in a lightweight dashboard using Flask for real-time use.</a:t>
            </a:r>
            <a:endParaRPr sz="2220">
              <a:latin typeface="Times New Roman" panose="02020603050405020304" charset="0"/>
              <a:cs typeface="Times New Roman" panose="02020603050405020304" charset="0"/>
            </a:endParaRPr>
          </a:p>
          <a:p>
            <a:pPr marL="0" indent="0">
              <a:buNone/>
            </a:pPr>
            <a:endParaRPr sz="222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3600">
                <a:latin typeface="Times New Roman" panose="02020603050405020304" charset="0"/>
                <a:cs typeface="Times New Roman" panose="02020603050405020304" charset="0"/>
              </a:rPr>
              <a:t>Problem Statement</a:t>
            </a:r>
            <a:endParaRPr sz="36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466215"/>
            <a:ext cx="8229600" cy="4660265"/>
          </a:xfrm>
        </p:spPr>
        <p:txBody>
          <a:bodyPr>
            <a:normAutofit/>
          </a:bodyPr>
          <a:lstStyle/>
          <a:p>
            <a:pPr>
              <a:buFont typeface="Wingdings" panose="05000000000000000000" charset="0"/>
              <a:buChar char="Ø"/>
            </a:pPr>
            <a:r>
              <a:rPr lang="en-US" altLang="en-GB" sz="2000">
                <a:latin typeface="Times New Roman" panose="02020603050405020304" charset="0"/>
                <a:cs typeface="Times New Roman" panose="02020603050405020304" charset="0"/>
              </a:rPr>
              <a:t>Electricity theft remains a significant challenge in modern smart grids, leading to billions in energy losses each year. Traditional detection methods, which depend on manual audits or fixed thresholds, often fall short in identifying complex and evolving theft patterns. Moreover, there is a clear absence of intelligent, automated systems that can dynamically and accurately analyze consumption behavior. To address these gaps, this project proposes a robust, scalable, and data-driven framework that leverages machine learning and real-time dashboards for effective electricity theft detection.</a:t>
            </a:r>
            <a:endParaRPr lang="en-US" altLang="en-GB" sz="200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3600">
                <a:latin typeface="Times New Roman" panose="02020603050405020304" charset="0"/>
                <a:cs typeface="Times New Roman" panose="02020603050405020304" charset="0"/>
              </a:rPr>
              <a:t>Objectives of the Project</a:t>
            </a:r>
            <a:endParaRPr sz="36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155700"/>
            <a:ext cx="8229600" cy="4970780"/>
          </a:xfrm>
        </p:spPr>
        <p:txBody>
          <a:bodyPr>
            <a:normAutofit lnSpcReduction="20000"/>
          </a:bodyPr>
          <a:lstStyle/>
          <a:p/>
          <a:p>
            <a:r>
              <a:rPr sz="1800">
                <a:latin typeface="Times New Roman" panose="02020603050405020304" charset="0"/>
                <a:cs typeface="Times New Roman" panose="02020603050405020304" charset="0"/>
              </a:rPr>
              <a:t>Detect electricity theft using ML models with a focus on high accuracy and recall for theft cases.</a:t>
            </a:r>
            <a:endParaRPr sz="1800">
              <a:latin typeface="Times New Roman" panose="02020603050405020304" charset="0"/>
              <a:cs typeface="Times New Roman" panose="02020603050405020304" charset="0"/>
            </a:endParaRPr>
          </a:p>
          <a:p>
            <a:r>
              <a:rPr sz="1800">
                <a:latin typeface="Times New Roman" panose="02020603050405020304" charset="0"/>
                <a:cs typeface="Times New Roman" panose="02020603050405020304" charset="0"/>
              </a:rPr>
              <a:t>Handle imbalanced data using SMOTE to ensure fair detection of minority class (theft cases).</a:t>
            </a:r>
            <a:endParaRPr sz="1800">
              <a:latin typeface="Times New Roman" panose="02020603050405020304" charset="0"/>
              <a:cs typeface="Times New Roman" panose="02020603050405020304" charset="0"/>
            </a:endParaRPr>
          </a:p>
          <a:p>
            <a:r>
              <a:rPr sz="1800">
                <a:latin typeface="Times New Roman" panose="02020603050405020304" charset="0"/>
                <a:cs typeface="Times New Roman" panose="02020603050405020304" charset="0"/>
              </a:rPr>
              <a:t>Design a lightweight, user-friendly dashboard for real-time theft monitoring and reporting.</a:t>
            </a:r>
            <a:endParaRPr sz="1800">
              <a:latin typeface="Times New Roman" panose="02020603050405020304" charset="0"/>
              <a:cs typeface="Times New Roman" panose="02020603050405020304" charset="0"/>
            </a:endParaRPr>
          </a:p>
          <a:p>
            <a:pPr algn="l"/>
            <a:r>
              <a:rPr sz="1800">
                <a:latin typeface="Times New Roman" panose="02020603050405020304" charset="0"/>
                <a:cs typeface="Times New Roman" panose="02020603050405020304" charset="0"/>
              </a:rPr>
              <a:t>Compare and evaluate multiple classifiers (Decision Tree, Random Forest, SVM, XGBoost, ANN) to determine the best-performing model.</a:t>
            </a:r>
            <a:endParaRPr lang="en-US" altLang="en-GB">
              <a:latin typeface="Times New Roman" panose="02020603050405020304" charset="0"/>
              <a:cs typeface="Times New Roman" panose="02020603050405020304" charset="0"/>
            </a:endParaRPr>
          </a:p>
          <a:p>
            <a:pPr marL="0" indent="0" algn="ctr">
              <a:buNone/>
            </a:pPr>
            <a:endParaRPr lang="en-US" altLang="en-GB">
              <a:latin typeface="Times New Roman" panose="02020603050405020304" charset="0"/>
              <a:cs typeface="Times New Roman" panose="02020603050405020304" charset="0"/>
            </a:endParaRPr>
          </a:p>
          <a:p>
            <a:pPr>
              <a:buFont typeface="+mj-lt"/>
              <a:buAutoNum type="arabicPeriod"/>
            </a:pPr>
            <a:endParaRPr lang="en-US" altLang="en-GB" sz="1800">
              <a:latin typeface="Times New Roman" panose="02020603050405020304" charset="0"/>
              <a:cs typeface="Times New Roman" panose="02020603050405020304" charset="0"/>
            </a:endParaRPr>
          </a:p>
          <a:p>
            <a:pPr>
              <a:buFont typeface="+mj-lt"/>
              <a:buAutoNum type="arabicPeriod"/>
            </a:pPr>
            <a:r>
              <a:rPr lang="en-US" altLang="en-GB" sz="1800">
                <a:latin typeface="Times New Roman" panose="02020603050405020304" charset="0"/>
                <a:cs typeface="Times New Roman" panose="02020603050405020304" charset="0"/>
              </a:rPr>
              <a:t>To detect electricity theft accurately using machine learning techniques.</a:t>
            </a:r>
            <a:endParaRPr lang="en-US" altLang="en-GB" sz="1800">
              <a:latin typeface="Times New Roman" panose="02020603050405020304" charset="0"/>
              <a:cs typeface="Times New Roman" panose="02020603050405020304" charset="0"/>
            </a:endParaRPr>
          </a:p>
          <a:p>
            <a:pPr>
              <a:buFont typeface="+mj-lt"/>
              <a:buAutoNum type="arabicPeriod"/>
            </a:pPr>
            <a:r>
              <a:rPr lang="en-US" altLang="en-GB" sz="1800">
                <a:latin typeface="Times New Roman" panose="02020603050405020304" charset="0"/>
                <a:cs typeface="Times New Roman" panose="02020603050405020304" charset="0"/>
              </a:rPr>
              <a:t>To reduce manual effort by automating the theft detection process.</a:t>
            </a:r>
            <a:endParaRPr lang="en-US" altLang="en-GB" sz="1800">
              <a:latin typeface="Times New Roman" panose="02020603050405020304" charset="0"/>
              <a:cs typeface="Times New Roman" panose="02020603050405020304" charset="0"/>
            </a:endParaRPr>
          </a:p>
          <a:p>
            <a:pPr>
              <a:buFont typeface="+mj-lt"/>
              <a:buAutoNum type="arabicPeriod"/>
            </a:pPr>
            <a:r>
              <a:rPr lang="en-US" altLang="en-GB" sz="1800">
                <a:latin typeface="Times New Roman" panose="02020603050405020304" charset="0"/>
                <a:cs typeface="Times New Roman" panose="02020603050405020304" charset="0"/>
              </a:rPr>
              <a:t>To provide real-time monitoring and visualization through user-friendly dashboards.</a:t>
            </a:r>
            <a:endParaRPr lang="en-US" altLang="en-GB" sz="1800">
              <a:latin typeface="Times New Roman" panose="02020603050405020304" charset="0"/>
              <a:cs typeface="Times New Roman" panose="02020603050405020304" charset="0"/>
            </a:endParaRPr>
          </a:p>
        </p:txBody>
      </p:sp>
      <p:sp>
        <p:nvSpPr>
          <p:cNvPr id="4" name="Text Box 3"/>
          <p:cNvSpPr txBox="1"/>
          <p:nvPr/>
        </p:nvSpPr>
        <p:spPr>
          <a:xfrm>
            <a:off x="2268855" y="3666490"/>
            <a:ext cx="4368800" cy="583565"/>
          </a:xfrm>
          <a:prstGeom prst="rect">
            <a:avLst/>
          </a:prstGeom>
          <a:noFill/>
        </p:spPr>
        <p:txBody>
          <a:bodyPr wrap="square" rtlCol="0">
            <a:spAutoFit/>
          </a:bodyPr>
          <a:p>
            <a:r>
              <a:rPr lang="en-US" altLang="en-GB"/>
              <a:t>                 </a:t>
            </a:r>
            <a:r>
              <a:rPr lang="en-US" altLang="en-GB" sz="3200"/>
              <a:t>Project Goals:</a:t>
            </a:r>
            <a:endParaRPr lang="en-US" altLang="en-GB" sz="32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4000">
                <a:latin typeface="Times New Roman" panose="02020603050405020304" charset="0"/>
                <a:cs typeface="Times New Roman" panose="02020603050405020304" charset="0"/>
              </a:rPr>
              <a:t>Methodology Adopted</a:t>
            </a:r>
            <a:endParaRPr sz="40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378585"/>
            <a:ext cx="8229600" cy="4960620"/>
          </a:xfrm>
        </p:spPr>
        <p:txBody>
          <a:bodyPr>
            <a:noAutofit/>
          </a:bodyPr>
          <a:lstStyle/>
          <a:p>
            <a:endParaRPr sz="1900"/>
          </a:p>
          <a:p>
            <a:r>
              <a:rPr sz="2000" b="1">
                <a:latin typeface="Times New Roman" panose="02020603050405020304" charset="0"/>
                <a:cs typeface="Times New Roman" panose="02020603050405020304" charset="0"/>
              </a:rPr>
              <a:t>Data Collection: </a:t>
            </a:r>
            <a:r>
              <a:rPr sz="2000">
                <a:latin typeface="Times New Roman" panose="02020603050405020304" charset="0"/>
                <a:cs typeface="Times New Roman" panose="02020603050405020304" charset="0"/>
              </a:rPr>
              <a:t>Load consumption data from smart meters (real or simulated datasets).</a:t>
            </a:r>
            <a:endParaRPr sz="2000">
              <a:latin typeface="Times New Roman" panose="02020603050405020304" charset="0"/>
              <a:cs typeface="Times New Roman" panose="02020603050405020304" charset="0"/>
            </a:endParaRPr>
          </a:p>
          <a:p>
            <a:r>
              <a:rPr sz="2000" b="1">
                <a:latin typeface="Times New Roman" panose="02020603050405020304" charset="0"/>
                <a:cs typeface="Times New Roman" panose="02020603050405020304" charset="0"/>
              </a:rPr>
              <a:t>Data Preprocessing:</a:t>
            </a:r>
            <a:r>
              <a:rPr sz="2000">
                <a:latin typeface="Times New Roman" panose="02020603050405020304" charset="0"/>
                <a:cs typeface="Times New Roman" panose="02020603050405020304" charset="0"/>
              </a:rPr>
              <a:t> Clean and transform data using label encoding, normalization, outlier handling.</a:t>
            </a:r>
            <a:endParaRPr sz="2000">
              <a:latin typeface="Times New Roman" panose="02020603050405020304" charset="0"/>
              <a:cs typeface="Times New Roman" panose="02020603050405020304" charset="0"/>
            </a:endParaRPr>
          </a:p>
          <a:p>
            <a:r>
              <a:rPr sz="2000" b="1">
                <a:latin typeface="Times New Roman" panose="02020603050405020304" charset="0"/>
                <a:cs typeface="Times New Roman" panose="02020603050405020304" charset="0"/>
              </a:rPr>
              <a:t>Feature Extraction:</a:t>
            </a:r>
            <a:r>
              <a:rPr sz="2000" b="1" u="sng">
                <a:latin typeface="Times New Roman" panose="02020603050405020304" charset="0"/>
                <a:cs typeface="Times New Roman" panose="02020603050405020304" charset="0"/>
              </a:rPr>
              <a:t> </a:t>
            </a:r>
            <a:r>
              <a:rPr sz="2000">
                <a:latin typeface="Times New Roman" panose="02020603050405020304" charset="0"/>
                <a:cs typeface="Times New Roman" panose="02020603050405020304" charset="0"/>
              </a:rPr>
              <a:t>Identify key attributes impacting theft (usage variation, time, load).</a:t>
            </a:r>
            <a:endParaRPr sz="2000">
              <a:latin typeface="Times New Roman" panose="02020603050405020304" charset="0"/>
              <a:cs typeface="Times New Roman" panose="02020603050405020304" charset="0"/>
            </a:endParaRPr>
          </a:p>
          <a:p>
            <a:r>
              <a:rPr sz="2000" b="1">
                <a:latin typeface="Times New Roman" panose="02020603050405020304" charset="0"/>
                <a:cs typeface="Times New Roman" panose="02020603050405020304" charset="0"/>
              </a:rPr>
              <a:t>Model Training:</a:t>
            </a:r>
            <a:r>
              <a:rPr sz="2000">
                <a:latin typeface="Times New Roman" panose="02020603050405020304" charset="0"/>
                <a:cs typeface="Times New Roman" panose="02020603050405020304" charset="0"/>
              </a:rPr>
              <a:t> Train models (RF, DT, SVM, XGBoost, ANN) with hyperparameter tuning and cross-validation.</a:t>
            </a:r>
            <a:endParaRPr sz="2000">
              <a:latin typeface="Times New Roman" panose="02020603050405020304" charset="0"/>
              <a:cs typeface="Times New Roman" panose="02020603050405020304" charset="0"/>
            </a:endParaRPr>
          </a:p>
          <a:p>
            <a:r>
              <a:rPr sz="2000" b="1">
                <a:latin typeface="Times New Roman" panose="02020603050405020304" charset="0"/>
                <a:cs typeface="Times New Roman" panose="02020603050405020304" charset="0"/>
              </a:rPr>
              <a:t>Evaluation:</a:t>
            </a:r>
            <a:r>
              <a:rPr sz="2000">
                <a:latin typeface="Times New Roman" panose="02020603050405020304" charset="0"/>
                <a:cs typeface="Times New Roman" panose="02020603050405020304" charset="0"/>
              </a:rPr>
              <a:t> Use metrics like accuracy, precision, recall, F1-score; focus on theft recall.</a:t>
            </a:r>
            <a:endParaRPr sz="2000">
              <a:latin typeface="Times New Roman" panose="02020603050405020304" charset="0"/>
              <a:cs typeface="Times New Roman" panose="02020603050405020304" charset="0"/>
            </a:endParaRPr>
          </a:p>
          <a:p>
            <a:r>
              <a:rPr sz="2000" b="1">
                <a:latin typeface="Times New Roman" panose="02020603050405020304" charset="0"/>
                <a:cs typeface="Times New Roman" panose="02020603050405020304" charset="0"/>
              </a:rPr>
              <a:t>Dashboard:</a:t>
            </a:r>
            <a:r>
              <a:rPr sz="2000">
                <a:latin typeface="Times New Roman" panose="02020603050405020304" charset="0"/>
                <a:cs typeface="Times New Roman" panose="02020603050405020304" charset="0"/>
              </a:rPr>
              <a:t> Deploy the best model in a Flask app for live detection and alerts.</a:t>
            </a:r>
            <a:endParaRPr sz="20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t>Literature Survey</a:t>
            </a:r>
          </a:p>
        </p:txBody>
      </p:sp>
      <p:sp>
        <p:nvSpPr>
          <p:cNvPr id="3" name="Content Placeholder 2"/>
          <p:cNvSpPr>
            <a:spLocks noGrp="1"/>
          </p:cNvSpPr>
          <p:nvPr>
            <p:ph idx="1"/>
          </p:nvPr>
        </p:nvSpPr>
        <p:spPr/>
        <p:txBody>
          <a:bodyPr>
            <a:noAutofit/>
          </a:bodyPr>
          <a:lstStyle/>
          <a:p>
            <a:r>
              <a:rPr sz="1900" b="1" u="sng">
                <a:latin typeface="Times New Roman" panose="02020603050405020304" charset="0"/>
                <a:cs typeface="Times New Roman" panose="02020603050405020304" charset="0"/>
                <a:sym typeface="+mn-ea"/>
              </a:rPr>
              <a:t>Background</a:t>
            </a:r>
            <a:r>
              <a:rPr lang="en-US" sz="1900" b="1" u="sng">
                <a:latin typeface="Times New Roman" panose="02020603050405020304" charset="0"/>
                <a:cs typeface="Times New Roman" panose="02020603050405020304" charset="0"/>
                <a:sym typeface="+mn-ea"/>
              </a:rPr>
              <a:t> Study</a:t>
            </a:r>
            <a:r>
              <a:rPr sz="1900" u="sng">
                <a:latin typeface="Times New Roman" panose="02020603050405020304" charset="0"/>
                <a:cs typeface="Times New Roman" panose="02020603050405020304" charset="0"/>
                <a:sym typeface="+mn-ea"/>
              </a:rPr>
              <a:t>:</a:t>
            </a:r>
            <a:r>
              <a:rPr sz="1900">
                <a:latin typeface="Times New Roman" panose="02020603050405020304" charset="0"/>
                <a:cs typeface="Times New Roman" panose="02020603050405020304" charset="0"/>
                <a:sym typeface="+mn-ea"/>
              </a:rPr>
              <a:t> Electricity theft causes severe revenue loss; needs robust automated detection.</a:t>
            </a:r>
            <a:endParaRPr sz="1900">
              <a:latin typeface="Times New Roman" panose="02020603050405020304" charset="0"/>
              <a:cs typeface="Times New Roman" panose="02020603050405020304" charset="0"/>
            </a:endParaRPr>
          </a:p>
          <a:p>
            <a:endParaRPr sz="1900">
              <a:latin typeface="Times New Roman" panose="02020603050405020304" charset="0"/>
              <a:cs typeface="Times New Roman" panose="02020603050405020304" charset="0"/>
            </a:endParaRPr>
          </a:p>
          <a:p>
            <a:r>
              <a:rPr lang="en-US" sz="1900" b="1" u="sng">
                <a:latin typeface="Times New Roman" panose="02020603050405020304" charset="0"/>
                <a:cs typeface="Times New Roman" panose="02020603050405020304" charset="0"/>
                <a:sym typeface="+mn-ea"/>
              </a:rPr>
              <a:t>Review of </a:t>
            </a:r>
            <a:r>
              <a:rPr sz="1900" b="1" u="sng">
                <a:latin typeface="Times New Roman" panose="02020603050405020304" charset="0"/>
                <a:cs typeface="Times New Roman" panose="02020603050405020304" charset="0"/>
                <a:sym typeface="+mn-ea"/>
              </a:rPr>
              <a:t>Existing System</a:t>
            </a:r>
            <a:r>
              <a:rPr sz="1900" u="sng">
                <a:latin typeface="Times New Roman" panose="02020603050405020304" charset="0"/>
                <a:cs typeface="Times New Roman" panose="02020603050405020304" charset="0"/>
                <a:sym typeface="+mn-ea"/>
              </a:rPr>
              <a:t>:</a:t>
            </a:r>
            <a:r>
              <a:rPr sz="1900">
                <a:latin typeface="Times New Roman" panose="02020603050405020304" charset="0"/>
                <a:cs typeface="Times New Roman" panose="02020603050405020304" charset="0"/>
                <a:sym typeface="+mn-ea"/>
              </a:rPr>
              <a:t> Lack precision, limited to manual/threshold-based methods.</a:t>
            </a:r>
            <a:endParaRPr sz="1900">
              <a:latin typeface="Times New Roman" panose="02020603050405020304" charset="0"/>
              <a:cs typeface="Times New Roman" panose="02020603050405020304" charset="0"/>
            </a:endParaRPr>
          </a:p>
          <a:p>
            <a:endParaRPr sz="1900">
              <a:latin typeface="Times New Roman" panose="02020603050405020304" charset="0"/>
              <a:cs typeface="Times New Roman" panose="02020603050405020304" charset="0"/>
            </a:endParaRPr>
          </a:p>
          <a:p>
            <a:r>
              <a:rPr lang="en-US" sz="1900" b="1" u="sng">
                <a:latin typeface="Times New Roman" panose="02020603050405020304" charset="0"/>
                <a:cs typeface="Times New Roman" panose="02020603050405020304" charset="0"/>
                <a:sym typeface="+mn-ea"/>
              </a:rPr>
              <a:t>Research papers and </a:t>
            </a:r>
            <a:r>
              <a:rPr sz="1900" b="1" u="sng">
                <a:latin typeface="Times New Roman" panose="02020603050405020304" charset="0"/>
                <a:cs typeface="Times New Roman" panose="02020603050405020304" charset="0"/>
                <a:sym typeface="+mn-ea"/>
              </a:rPr>
              <a:t>Findings:</a:t>
            </a:r>
            <a:r>
              <a:rPr sz="1900" u="sng">
                <a:latin typeface="Times New Roman" panose="02020603050405020304" charset="0"/>
                <a:cs typeface="Times New Roman" panose="02020603050405020304" charset="0"/>
                <a:sym typeface="+mn-ea"/>
              </a:rPr>
              <a:t> </a:t>
            </a:r>
            <a:r>
              <a:rPr sz="1900">
                <a:latin typeface="Times New Roman" panose="02020603050405020304" charset="0"/>
                <a:cs typeface="Times New Roman" panose="02020603050405020304" charset="0"/>
                <a:sym typeface="+mn-ea"/>
              </a:rPr>
              <a:t>ML models (RF, XGBoost) improve detection but face class imbalance and generalization issues.</a:t>
            </a:r>
            <a:endParaRPr sz="1900">
              <a:latin typeface="Times New Roman" panose="02020603050405020304" charset="0"/>
              <a:cs typeface="Times New Roman" panose="02020603050405020304" charset="0"/>
            </a:endParaRPr>
          </a:p>
          <a:p>
            <a:endParaRPr sz="1900">
              <a:latin typeface="Times New Roman" panose="02020603050405020304" charset="0"/>
              <a:cs typeface="Times New Roman" panose="02020603050405020304" charset="0"/>
            </a:endParaRPr>
          </a:p>
          <a:p>
            <a:r>
              <a:rPr sz="1900" b="1" u="sng">
                <a:latin typeface="Times New Roman" panose="02020603050405020304" charset="0"/>
                <a:cs typeface="Times New Roman" panose="02020603050405020304" charset="0"/>
                <a:sym typeface="+mn-ea"/>
              </a:rPr>
              <a:t>Gaps</a:t>
            </a:r>
            <a:r>
              <a:rPr lang="en-US" sz="1900" b="1" u="sng">
                <a:latin typeface="Times New Roman" panose="02020603050405020304" charset="0"/>
                <a:cs typeface="Times New Roman" panose="02020603050405020304" charset="0"/>
                <a:sym typeface="+mn-ea"/>
              </a:rPr>
              <a:t> in the Existing Systems</a:t>
            </a:r>
            <a:r>
              <a:rPr sz="1900" b="1">
                <a:latin typeface="Times New Roman" panose="02020603050405020304" charset="0"/>
                <a:cs typeface="Times New Roman" panose="02020603050405020304" charset="0"/>
                <a:sym typeface="+mn-ea"/>
              </a:rPr>
              <a:t>:</a:t>
            </a:r>
            <a:r>
              <a:rPr sz="1900">
                <a:latin typeface="Times New Roman" panose="02020603050405020304" charset="0"/>
                <a:cs typeface="Times New Roman" panose="02020603050405020304" charset="0"/>
                <a:sym typeface="+mn-ea"/>
              </a:rPr>
              <a:t> Imbalanced datasets, poor performance on minority class, no integrated monitoring.</a:t>
            </a:r>
            <a:endParaRPr sz="1900">
              <a:latin typeface="Times New Roman" panose="02020603050405020304" charset="0"/>
              <a:cs typeface="Times New Roman" panose="02020603050405020304" charset="0"/>
            </a:endParaRPr>
          </a:p>
          <a:p>
            <a:endParaRPr sz="1900">
              <a:latin typeface="Times New Roman" panose="02020603050405020304" charset="0"/>
              <a:cs typeface="Times New Roman" panose="02020603050405020304" charset="0"/>
            </a:endParaRPr>
          </a:p>
          <a:p>
            <a:r>
              <a:rPr sz="1900" b="1" u="sng">
                <a:latin typeface="Times New Roman" panose="02020603050405020304" charset="0"/>
                <a:cs typeface="Times New Roman" panose="02020603050405020304" charset="0"/>
                <a:sym typeface="+mn-ea"/>
              </a:rPr>
              <a:t>Solution</a:t>
            </a:r>
            <a:r>
              <a:rPr lang="en-US" sz="1900" b="1" u="sng">
                <a:latin typeface="Times New Roman" panose="02020603050405020304" charset="0"/>
                <a:cs typeface="Times New Roman" panose="02020603050405020304" charset="0"/>
                <a:sym typeface="+mn-ea"/>
              </a:rPr>
              <a:t> to the Gap</a:t>
            </a:r>
            <a:r>
              <a:rPr sz="1900" b="1" u="sng">
                <a:latin typeface="Times New Roman" panose="02020603050405020304" charset="0"/>
                <a:cs typeface="Times New Roman" panose="02020603050405020304" charset="0"/>
                <a:sym typeface="+mn-ea"/>
              </a:rPr>
              <a:t>:</a:t>
            </a:r>
            <a:r>
              <a:rPr sz="1900" b="1">
                <a:latin typeface="Times New Roman" panose="02020603050405020304" charset="0"/>
                <a:cs typeface="Times New Roman" panose="02020603050405020304" charset="0"/>
                <a:sym typeface="+mn-ea"/>
              </a:rPr>
              <a:t> </a:t>
            </a:r>
            <a:r>
              <a:rPr sz="1900">
                <a:latin typeface="Times New Roman" panose="02020603050405020304" charset="0"/>
                <a:cs typeface="Times New Roman" panose="02020603050405020304" charset="0"/>
                <a:sym typeface="+mn-ea"/>
              </a:rPr>
              <a:t>Data balancing (SMOTE), tuned ML models, real-time dashboard.</a:t>
            </a:r>
            <a:endParaRPr sz="1900">
              <a:latin typeface="Times New Roman" panose="02020603050405020304" charset="0"/>
              <a:cs typeface="Times New Roman" panose="02020603050405020304" charset="0"/>
            </a:endParaRPr>
          </a:p>
          <a:p>
            <a:endParaRPr sz="1900"/>
          </a:p>
          <a:p>
            <a:pPr marL="0" indent="0">
              <a:buNone/>
            </a:pPr>
            <a:endParaRPr sz="5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Content Placeholder 5"/>
          <p:cNvGraphicFramePr/>
          <p:nvPr>
            <p:ph idx="1"/>
            <p:custDataLst>
              <p:tags r:id="rId1"/>
            </p:custDataLst>
          </p:nvPr>
        </p:nvGraphicFramePr>
        <p:xfrm>
          <a:off x="110490" y="115570"/>
          <a:ext cx="8909685" cy="6617335"/>
        </p:xfrm>
        <a:graphic>
          <a:graphicData uri="http://schemas.openxmlformats.org/drawingml/2006/table">
            <a:tbl>
              <a:tblPr firstRow="1" bandRow="1">
                <a:tableStyleId>{5C22544A-7EE6-4342-B048-85BDC9FD1C3A}</a:tableStyleId>
              </a:tblPr>
              <a:tblGrid>
                <a:gridCol w="1195705"/>
                <a:gridCol w="1306830"/>
                <a:gridCol w="1306830"/>
                <a:gridCol w="1306830"/>
                <a:gridCol w="1306830"/>
                <a:gridCol w="1306830"/>
                <a:gridCol w="1179830"/>
              </a:tblGrid>
              <a:tr h="426720">
                <a:tc>
                  <a:txBody>
                    <a:bodyPr/>
                    <a:p>
                      <a:pPr marL="0" indent="0" algn="l">
                        <a:spcBef>
                          <a:spcPct val="0"/>
                        </a:spcBef>
                        <a:spcAft>
                          <a:spcPct val="0"/>
                        </a:spcAft>
                      </a:pPr>
                      <a:r>
                        <a:rPr lang="en-US" sz="1400" b="1">
                          <a:latin typeface="Times New Roman" panose="02020603050405020304" charset="0"/>
                          <a:ea typeface="Times New Roman" panose="02020603050405020304"/>
                          <a:cs typeface="Times New Roman" panose="02020603050405020304" charset="0"/>
                        </a:rPr>
                        <a:t>S. No</a:t>
                      </a:r>
                      <a:endParaRPr lang="en-US" sz="1400" b="1">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400" b="1">
                          <a:latin typeface="Times New Roman" panose="02020603050405020304" charset="0"/>
                          <a:ea typeface="Times New Roman" panose="02020603050405020304"/>
                          <a:cs typeface="Times New Roman" panose="02020603050405020304" charset="0"/>
                        </a:rPr>
                        <a:t>Title</a:t>
                      </a:r>
                      <a:endParaRPr lang="en-US" sz="1400" b="1">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400" b="1">
                          <a:latin typeface="Times New Roman" panose="02020603050405020304" charset="0"/>
                          <a:ea typeface="Times New Roman" panose="02020603050405020304"/>
                          <a:cs typeface="Times New Roman" panose="02020603050405020304" charset="0"/>
                        </a:rPr>
                        <a:t>Authors</a:t>
                      </a:r>
                      <a:endParaRPr lang="en-US" sz="1400" b="1">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400" b="1">
                          <a:latin typeface="Times New Roman" panose="02020603050405020304" charset="0"/>
                          <a:ea typeface="Times New Roman" panose="02020603050405020304"/>
                          <a:cs typeface="Times New Roman" panose="02020603050405020304" charset="0"/>
                        </a:rPr>
                        <a:t>Journal/</a:t>
                      </a:r>
                      <a:endParaRPr lang="en-US" sz="1400" b="1">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400" b="1">
                          <a:latin typeface="Times New Roman" panose="02020603050405020304" charset="0"/>
                          <a:ea typeface="Times New Roman" panose="02020603050405020304"/>
                          <a:cs typeface="Times New Roman" panose="02020603050405020304" charset="0"/>
                        </a:rPr>
                        <a:t>Year</a:t>
                      </a:r>
                      <a:endParaRPr lang="en-US" sz="1400" b="1">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400" b="1">
                          <a:latin typeface="Times New Roman" panose="02020603050405020304" charset="0"/>
                          <a:ea typeface="Times New Roman" panose="02020603050405020304"/>
                          <a:cs typeface="Times New Roman" panose="02020603050405020304" charset="0"/>
                        </a:rPr>
                        <a:t>Methods</a:t>
                      </a:r>
                      <a:endParaRPr lang="en-US" sz="1400" b="1">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400" b="1">
                          <a:latin typeface="Times New Roman" panose="02020603050405020304" charset="0"/>
                          <a:ea typeface="Times New Roman" panose="02020603050405020304"/>
                          <a:cs typeface="Times New Roman" panose="02020603050405020304" charset="0"/>
                        </a:rPr>
                        <a:t>Merits</a:t>
                      </a:r>
                      <a:endParaRPr lang="en-US" sz="1400" b="1">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400" b="1">
                          <a:latin typeface="Times New Roman" panose="02020603050405020304" charset="0"/>
                          <a:ea typeface="Times New Roman" panose="02020603050405020304"/>
                          <a:cs typeface="Times New Roman" panose="02020603050405020304" charset="0"/>
                        </a:rPr>
                        <a:t>Limitations</a:t>
                      </a:r>
                      <a:endParaRPr lang="en-US" sz="1400" b="1">
                        <a:latin typeface="Times New Roman" panose="02020603050405020304" charset="0"/>
                        <a:ea typeface="Times New Roman" panose="02020603050405020304"/>
                        <a:cs typeface="Times New Roman" panose="02020603050405020304" charset="0"/>
                      </a:endParaRPr>
                    </a:p>
                  </a:txBody>
                  <a:tcPr marL="68580" marR="68580" marT="0" marB="0" anchor="t" anchorCtr="0"/>
                </a:tc>
              </a:tr>
              <a:tr h="1097280">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1</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CatBoost-based supervised machine learning framework for electricity theft detection</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S. Hussain et al.</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Energy Reports,</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2021</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CatBoost, Feature Engineering, Outlier Detection</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Fast training, Strong handling of categorical features</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Requires high-quality feature selection</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r>
              <a:tr h="1463040">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2</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An adaptive synthesis to handle imbalanced Big Data with deep Siamese network for electricity theft detection in smart grids</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N. Javaid, N. Jan,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M. Javed</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Journal of Parallel and Distributed Computing, 2021</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Deep Siamese Networks, Data Balancing Techniques</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Improved handling of imbalanced data</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Requires expert knowledge for parameter tuning</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r>
              <a:tr h="1280160">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3</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Hybrid deep neural networks for detection of non-technical losses in electricity smart meters</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M.-M. Buzau,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J. Tejedor-Aguilera, P. Cruz-Romero, A. Gómez-Expósito</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IEEE Transactions on Power Systems, Mar. 2020</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Hybrid Deep Neural Networks (DNN), Convolutional Neural Networks (CNN), Autoencoders</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Robust feature extraction,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High accuracy in complex data patterns</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Requires large computational resources,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Risk of overfitting</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r>
              <a:tr h="1097280">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4</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Robust Big Data analytics for electricity price forecasting in the smart grid</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K. Wang, C. Xu,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Y. Zhang, S. Guo, A. Y. Zomaya</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IEEE Transactions on Big Data, Mar. 2019</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Big Data Analytics, Machine Learning Models,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Time Series Analysis</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Efficient handling of large data volumes,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Improved prediction accuracy</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High implementation cost,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Requires extensive data labeling</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r>
              <a:tr h="1252855">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5</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Detection of non-technical losses using smart meter data and supervised learning</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M. M. Buzau,</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 J. Tejedor-Aguilera,</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 P. Cruz-Romero,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A. Gómez-Expósito</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IEEE Transactions on Smart Grid,</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 May 2019</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Supervised Learning, Feature Engineering, Data Clustering</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High detection precision, </a:t>
                      </a:r>
                      <a:endParaRPr lang="en-US" sz="1200">
                        <a:latin typeface="Times New Roman" panose="02020603050405020304" charset="0"/>
                        <a:ea typeface="Times New Roman" panose="02020603050405020304"/>
                        <a:cs typeface="Times New Roman" panose="02020603050405020304" charset="0"/>
                      </a:endParaRPr>
                    </a:p>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Efficient for small-scale grids</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c>
                  <a:txBody>
                    <a:bodyPr/>
                    <a:p>
                      <a:pPr marL="0" indent="0" algn="l">
                        <a:spcBef>
                          <a:spcPct val="0"/>
                        </a:spcBef>
                        <a:spcAft>
                          <a:spcPct val="0"/>
                        </a:spcAft>
                      </a:pPr>
                      <a:r>
                        <a:rPr lang="en-US" sz="1200">
                          <a:latin typeface="Times New Roman" panose="02020603050405020304" charset="0"/>
                          <a:ea typeface="Times New Roman" panose="02020603050405020304"/>
                          <a:cs typeface="Times New Roman" panose="02020603050405020304" charset="0"/>
                        </a:rPr>
                        <a:t>Performance degrades with incomplete data</a:t>
                      </a:r>
                      <a:endParaRPr lang="en-US" sz="1200">
                        <a:latin typeface="Times New Roman" panose="02020603050405020304" charset="0"/>
                        <a:ea typeface="Times New Roman" panose="02020603050405020304"/>
                        <a:cs typeface="Times New Roman" panose="02020603050405020304" charset="0"/>
                      </a:endParaRPr>
                    </a:p>
                  </a:txBody>
                  <a:tcPr marL="68580" marR="68580" marT="0" marB="0" anchor="t" anchorCtr="0"/>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669290"/>
          </a:xfrm>
        </p:spPr>
        <p:txBody>
          <a:bodyPr>
            <a:normAutofit/>
          </a:bodyPr>
          <a:lstStyle/>
          <a:p>
            <a:pPr algn="ctr"/>
            <a:r>
              <a:rPr sz="3110">
                <a:latin typeface="Times New Roman" panose="02020603050405020304" charset="0"/>
                <a:cs typeface="Times New Roman" panose="02020603050405020304" charset="0"/>
              </a:rPr>
              <a:t>Existing System</a:t>
            </a:r>
            <a:endParaRPr sz="311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184275"/>
            <a:ext cx="8229600" cy="5019040"/>
          </a:xfrm>
        </p:spPr>
        <p:txBody>
          <a:bodyPr>
            <a:normAutofit lnSpcReduction="10000"/>
          </a:bodyPr>
          <a:lstStyle/>
          <a:p>
            <a:pPr marL="0" indent="0">
              <a:buNone/>
            </a:pPr>
            <a:endParaRPr>
              <a:latin typeface="Times New Roman" panose="02020603050405020304" charset="0"/>
              <a:cs typeface="Times New Roman" panose="02020603050405020304" charset="0"/>
            </a:endParaRPr>
          </a:p>
          <a:p>
            <a:r>
              <a:rPr sz="1800" b="1">
                <a:latin typeface="Times New Roman" panose="02020603050405020304" charset="0"/>
                <a:cs typeface="Times New Roman" panose="02020603050405020304" charset="0"/>
              </a:rPr>
              <a:t>Manual Inspection:</a:t>
            </a:r>
            <a:r>
              <a:rPr sz="1800">
                <a:latin typeface="Times New Roman" panose="02020603050405020304" charset="0"/>
                <a:cs typeface="Times New Roman" panose="02020603050405020304" charset="0"/>
              </a:rPr>
              <a:t> Relies on human meter readers; time-consuming and prone to error.</a:t>
            </a:r>
            <a:endParaRPr sz="1800">
              <a:latin typeface="Times New Roman" panose="02020603050405020304" charset="0"/>
              <a:cs typeface="Times New Roman" panose="02020603050405020304" charset="0"/>
            </a:endParaRPr>
          </a:p>
          <a:p>
            <a:r>
              <a:rPr sz="1800" b="1">
                <a:latin typeface="Times New Roman" panose="02020603050405020304" charset="0"/>
                <a:cs typeface="Times New Roman" panose="02020603050405020304" charset="0"/>
              </a:rPr>
              <a:t>Rule-Based Alerts: </a:t>
            </a:r>
            <a:r>
              <a:rPr sz="1800">
                <a:latin typeface="Times New Roman" panose="02020603050405020304" charset="0"/>
                <a:cs typeface="Times New Roman" panose="02020603050405020304" charset="0"/>
              </a:rPr>
              <a:t>Uses fixed thresholds to detect anomalies—ineffective for complex theft.</a:t>
            </a:r>
            <a:endParaRPr sz="1800">
              <a:latin typeface="Times New Roman" panose="02020603050405020304" charset="0"/>
              <a:cs typeface="Times New Roman" panose="02020603050405020304" charset="0"/>
            </a:endParaRPr>
          </a:p>
          <a:p>
            <a:r>
              <a:rPr sz="1800" b="1">
                <a:latin typeface="Times New Roman" panose="02020603050405020304" charset="0"/>
                <a:cs typeface="Times New Roman" panose="02020603050405020304" charset="0"/>
              </a:rPr>
              <a:t>Basic Machine Learning:</a:t>
            </a:r>
            <a:r>
              <a:rPr sz="1800">
                <a:latin typeface="Times New Roman" panose="02020603050405020304" charset="0"/>
                <a:cs typeface="Times New Roman" panose="02020603050405020304" charset="0"/>
              </a:rPr>
              <a:t> Earlier models often ignore class imbalance and feature importance.</a:t>
            </a:r>
            <a:endParaRPr sz="1800">
              <a:latin typeface="Times New Roman" panose="02020603050405020304" charset="0"/>
              <a:cs typeface="Times New Roman" panose="02020603050405020304" charset="0"/>
            </a:endParaRPr>
          </a:p>
          <a:p>
            <a:r>
              <a:rPr sz="1800" b="1">
                <a:latin typeface="Times New Roman" panose="02020603050405020304" charset="0"/>
                <a:cs typeface="Times New Roman" panose="02020603050405020304" charset="0"/>
              </a:rPr>
              <a:t>No Visualization: </a:t>
            </a:r>
            <a:r>
              <a:rPr sz="1800">
                <a:latin typeface="Times New Roman" panose="02020603050405020304" charset="0"/>
                <a:cs typeface="Times New Roman" panose="02020603050405020304" charset="0"/>
              </a:rPr>
              <a:t>Lack of dashboards or interpretability in existing tools.</a:t>
            </a:r>
            <a:endParaRPr sz="1800">
              <a:latin typeface="Times New Roman" panose="02020603050405020304" charset="0"/>
              <a:cs typeface="Times New Roman" panose="02020603050405020304" charset="0"/>
            </a:endParaRPr>
          </a:p>
          <a:p>
            <a:endParaRPr lang="en-US" sz="2000" b="1">
              <a:latin typeface="+mj-ea"/>
              <a:cs typeface="+mj-ea"/>
            </a:endParaRPr>
          </a:p>
          <a:p>
            <a:pPr marL="0" indent="0">
              <a:buNone/>
            </a:pPr>
            <a:r>
              <a:rPr lang="en-US" sz="2000" b="1">
                <a:latin typeface="+mj-ea"/>
                <a:cs typeface="+mj-ea"/>
              </a:rPr>
              <a:t>Limitations:</a:t>
            </a:r>
            <a:endParaRPr lang="en-US" sz="2000" b="1">
              <a:latin typeface="+mj-ea"/>
              <a:cs typeface="+mj-ea"/>
            </a:endParaRPr>
          </a:p>
          <a:p>
            <a:endParaRPr lang="en-US" altLang="en-GB" sz="1800" b="1">
              <a:latin typeface="Times New Roman" panose="02020603050405020304" charset="0"/>
              <a:cs typeface="Times New Roman" panose="02020603050405020304" charset="0"/>
            </a:endParaRPr>
          </a:p>
          <a:p>
            <a:pPr>
              <a:buFont typeface="Arial" panose="020B0604020202020204" pitchFamily="34" charset="0"/>
              <a:buChar char="•"/>
            </a:pPr>
            <a:r>
              <a:rPr lang="en-US" altLang="en-GB" sz="1800" b="1">
                <a:latin typeface="Times New Roman" panose="02020603050405020304" charset="0"/>
                <a:cs typeface="Times New Roman" panose="02020603050405020304" charset="0"/>
              </a:rPr>
              <a:t>Limited Accuracy: </a:t>
            </a:r>
            <a:r>
              <a:rPr lang="en-US" altLang="en-GB" sz="1800">
                <a:latin typeface="Times New Roman" panose="02020603050405020304" charset="0"/>
                <a:cs typeface="Times New Roman" panose="02020603050405020304" charset="0"/>
              </a:rPr>
              <a:t>High false negatives due to basic or unoptimized models.</a:t>
            </a:r>
            <a:endParaRPr lang="en-US" altLang="en-GB" sz="1800">
              <a:latin typeface="Times New Roman" panose="02020603050405020304" charset="0"/>
              <a:cs typeface="Times New Roman" panose="02020603050405020304" charset="0"/>
            </a:endParaRPr>
          </a:p>
          <a:p>
            <a:pPr>
              <a:buFont typeface="Arial" panose="020B0604020202020204" pitchFamily="34" charset="0"/>
              <a:buChar char="•"/>
            </a:pPr>
            <a:r>
              <a:rPr lang="en-US" altLang="en-GB" sz="1800" b="1">
                <a:latin typeface="Times New Roman" panose="02020603050405020304" charset="0"/>
                <a:cs typeface="Times New Roman" panose="02020603050405020304" charset="0"/>
              </a:rPr>
              <a:t>Labor Intensive: </a:t>
            </a:r>
            <a:r>
              <a:rPr lang="en-US" altLang="en-GB" sz="1800">
                <a:latin typeface="Times New Roman" panose="02020603050405020304" charset="0"/>
                <a:cs typeface="Times New Roman" panose="02020603050405020304" charset="0"/>
              </a:rPr>
              <a:t>Manual audits delay detection and increase costs.</a:t>
            </a:r>
            <a:endParaRPr lang="en-US" altLang="en-GB" sz="1800">
              <a:latin typeface="Times New Roman" panose="02020603050405020304" charset="0"/>
              <a:cs typeface="Times New Roman" panose="02020603050405020304" charset="0"/>
            </a:endParaRPr>
          </a:p>
          <a:p>
            <a:pPr>
              <a:buFont typeface="Arial" panose="020B0604020202020204" pitchFamily="34" charset="0"/>
              <a:buChar char="•"/>
            </a:pPr>
            <a:r>
              <a:rPr lang="en-US" altLang="en-GB" sz="1800" b="1">
                <a:latin typeface="Times New Roman" panose="02020603050405020304" charset="0"/>
                <a:cs typeface="Times New Roman" panose="02020603050405020304" charset="0"/>
              </a:rPr>
              <a:t>Outdated Techniques:</a:t>
            </a:r>
            <a:r>
              <a:rPr lang="en-US" altLang="en-GB" sz="1800">
                <a:latin typeface="Times New Roman" panose="02020603050405020304" charset="0"/>
                <a:cs typeface="Times New Roman" panose="02020603050405020304" charset="0"/>
              </a:rPr>
              <a:t> Cannot adapt to evolving theft strategies.</a:t>
            </a:r>
            <a:endParaRPr lang="en-US" altLang="en-GB" sz="1800">
              <a:latin typeface="Times New Roman" panose="02020603050405020304" charset="0"/>
              <a:cs typeface="Times New Roman" panose="02020603050405020304" charset="0"/>
            </a:endParaRPr>
          </a:p>
          <a:p>
            <a:pPr>
              <a:buFont typeface="Arial" panose="020B0604020202020204" pitchFamily="34" charset="0"/>
              <a:buChar char="•"/>
            </a:pPr>
            <a:r>
              <a:rPr lang="en-US" altLang="en-GB" sz="1800" b="1">
                <a:latin typeface="Times New Roman" panose="02020603050405020304" charset="0"/>
                <a:cs typeface="Times New Roman" panose="02020603050405020304" charset="0"/>
              </a:rPr>
              <a:t>No Real-Time Capabilities:</a:t>
            </a:r>
            <a:r>
              <a:rPr lang="en-US" altLang="en-GB" sz="1800">
                <a:latin typeface="Times New Roman" panose="02020603050405020304" charset="0"/>
                <a:cs typeface="Times New Roman" panose="02020603050405020304" charset="0"/>
              </a:rPr>
              <a:t> Detection and response are delayed, increasing losses</a:t>
            </a:r>
            <a:endParaRPr lang="en-US" altLang="en-GB" sz="1800">
              <a:latin typeface="Times New Roman" panose="02020603050405020304" charset="0"/>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694690"/>
          </a:xfrm>
        </p:spPr>
        <p:txBody>
          <a:bodyPr>
            <a:normAutofit/>
          </a:bodyPr>
          <a:lstStyle/>
          <a:p>
            <a:r>
              <a:rPr sz="3555">
                <a:latin typeface="Times New Roman" panose="02020603050405020304" charset="0"/>
                <a:cs typeface="Times New Roman" panose="02020603050405020304" charset="0"/>
              </a:rPr>
              <a:t>Proposed System</a:t>
            </a:r>
            <a:endParaRPr sz="3555">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291590"/>
            <a:ext cx="8229600" cy="4978400"/>
          </a:xfrm>
        </p:spPr>
        <p:txBody>
          <a:bodyPr>
            <a:normAutofit/>
          </a:bodyPr>
          <a:lstStyle/>
          <a:p>
            <a:pPr marL="0" indent="0">
              <a:buNone/>
            </a:pPr>
          </a:p>
          <a:p>
            <a:r>
              <a:rPr sz="1800" b="1">
                <a:latin typeface="Times New Roman" panose="02020603050405020304" charset="0"/>
                <a:cs typeface="Times New Roman" panose="02020603050405020304" charset="0"/>
              </a:rPr>
              <a:t>Smart ML-Based Detection: </a:t>
            </a:r>
            <a:r>
              <a:rPr sz="1800">
                <a:latin typeface="Times New Roman" panose="02020603050405020304" charset="0"/>
                <a:cs typeface="Times New Roman" panose="02020603050405020304" charset="0"/>
              </a:rPr>
              <a:t>Automates theft detection with higher accuracy.</a:t>
            </a:r>
            <a:endParaRPr sz="1800">
              <a:latin typeface="Times New Roman" panose="02020603050405020304" charset="0"/>
              <a:cs typeface="Times New Roman" panose="02020603050405020304" charset="0"/>
            </a:endParaRPr>
          </a:p>
          <a:p>
            <a:r>
              <a:rPr sz="1800" b="1">
                <a:latin typeface="Times New Roman" panose="02020603050405020304" charset="0"/>
                <a:cs typeface="Times New Roman" panose="02020603050405020304" charset="0"/>
              </a:rPr>
              <a:t>Balanced Data Handling:</a:t>
            </a:r>
            <a:r>
              <a:rPr sz="1800">
                <a:latin typeface="Times New Roman" panose="02020603050405020304" charset="0"/>
                <a:cs typeface="Times New Roman" panose="02020603050405020304" charset="0"/>
              </a:rPr>
              <a:t> Applies SMOTE to mitigate class imbalance, boosting theft recall.</a:t>
            </a:r>
            <a:endParaRPr sz="1800">
              <a:latin typeface="Times New Roman" panose="02020603050405020304" charset="0"/>
              <a:cs typeface="Times New Roman" panose="02020603050405020304" charset="0"/>
            </a:endParaRPr>
          </a:p>
          <a:p>
            <a:r>
              <a:rPr sz="1800" b="1">
                <a:latin typeface="Times New Roman" panose="02020603050405020304" charset="0"/>
                <a:cs typeface="Times New Roman" panose="02020603050405020304" charset="0"/>
              </a:rPr>
              <a:t>Modular Pipeline:</a:t>
            </a:r>
            <a:r>
              <a:rPr sz="1800">
                <a:latin typeface="Times New Roman" panose="02020603050405020304" charset="0"/>
                <a:cs typeface="Times New Roman" panose="02020603050405020304" charset="0"/>
              </a:rPr>
              <a:t> Covers preprocessing, training, evaluation, and deployment.</a:t>
            </a:r>
            <a:endParaRPr sz="1800">
              <a:latin typeface="Times New Roman" panose="02020603050405020304" charset="0"/>
              <a:cs typeface="Times New Roman" panose="02020603050405020304" charset="0"/>
            </a:endParaRPr>
          </a:p>
          <a:p>
            <a:r>
              <a:rPr sz="1800" b="1">
                <a:latin typeface="Times New Roman" panose="02020603050405020304" charset="0"/>
                <a:cs typeface="Times New Roman" panose="02020603050405020304" charset="0"/>
              </a:rPr>
              <a:t>Interactive Dashboard:</a:t>
            </a:r>
            <a:r>
              <a:rPr sz="1800">
                <a:latin typeface="Times New Roman" panose="02020603050405020304" charset="0"/>
                <a:cs typeface="Times New Roman" panose="02020603050405020304" charset="0"/>
              </a:rPr>
              <a:t> Provides real-time alerts and visual insights via Flask app.</a:t>
            </a:r>
            <a:br>
              <a:rPr sz="1800">
                <a:latin typeface="Times New Roman" panose="02020603050405020304" charset="0"/>
                <a:cs typeface="Times New Roman" panose="02020603050405020304" charset="0"/>
              </a:rPr>
            </a:br>
            <a:endParaRPr sz="1800">
              <a:latin typeface="Times New Roman" panose="02020603050405020304" charset="0"/>
              <a:cs typeface="Times New Roman" panose="02020603050405020304" charset="0"/>
            </a:endParaRPr>
          </a:p>
          <a:p>
            <a:pPr marL="0" indent="0">
              <a:buNone/>
            </a:pPr>
            <a:r>
              <a:rPr lang="en-US" sz="2000" b="1">
                <a:latin typeface="+mj-ea"/>
                <a:cs typeface="+mj-ea"/>
              </a:rPr>
              <a:t>Advantages:</a:t>
            </a:r>
            <a:endParaRPr lang="en-US" sz="2000" b="1">
              <a:latin typeface="+mj-ea"/>
              <a:cs typeface="+mj-ea"/>
            </a:endParaRPr>
          </a:p>
          <a:p>
            <a:pPr marL="0" indent="0">
              <a:buNone/>
            </a:pPr>
            <a:endParaRPr lang="en-US" sz="2000" b="1">
              <a:latin typeface="+mj-ea"/>
              <a:cs typeface="+mj-ea"/>
            </a:endParaRPr>
          </a:p>
          <a:p>
            <a:pPr>
              <a:buFont typeface="Arial" panose="020B0604020202020204" pitchFamily="34" charset="0"/>
              <a:buChar char="•"/>
            </a:pPr>
            <a:r>
              <a:rPr sz="1800" b="1">
                <a:latin typeface="Times New Roman" panose="02020603050405020304" charset="0"/>
                <a:cs typeface="Times New Roman" panose="02020603050405020304" charset="0"/>
                <a:sym typeface="+mn-ea"/>
              </a:rPr>
              <a:t>Higher Accuracy: </a:t>
            </a:r>
            <a:r>
              <a:rPr sz="1800">
                <a:latin typeface="Times New Roman" panose="02020603050405020304" charset="0"/>
                <a:cs typeface="Times New Roman" panose="02020603050405020304" charset="0"/>
                <a:sym typeface="+mn-ea"/>
              </a:rPr>
              <a:t>XGBoost and RF provide improved performance with balanced data.</a:t>
            </a:r>
            <a:endParaRPr sz="1800">
              <a:latin typeface="Times New Roman" panose="02020603050405020304" charset="0"/>
              <a:cs typeface="Times New Roman" panose="02020603050405020304" charset="0"/>
            </a:endParaRPr>
          </a:p>
          <a:p>
            <a:pPr>
              <a:buFont typeface="Arial" panose="020B0604020202020204" pitchFamily="34" charset="0"/>
              <a:buChar char="•"/>
            </a:pPr>
            <a:r>
              <a:rPr sz="1800" b="1">
                <a:latin typeface="Times New Roman" panose="02020603050405020304" charset="0"/>
                <a:cs typeface="Times New Roman" panose="02020603050405020304" charset="0"/>
                <a:sym typeface="+mn-ea"/>
              </a:rPr>
              <a:t>Real-Time Monitoring:</a:t>
            </a:r>
            <a:r>
              <a:rPr sz="1800">
                <a:latin typeface="Times New Roman" panose="02020603050405020304" charset="0"/>
                <a:cs typeface="Times New Roman" panose="02020603050405020304" charset="0"/>
                <a:sym typeface="+mn-ea"/>
              </a:rPr>
              <a:t> Flask dashboard enables quick decisions and alerts.</a:t>
            </a:r>
            <a:endParaRPr sz="1800">
              <a:latin typeface="Times New Roman" panose="02020603050405020304" charset="0"/>
              <a:cs typeface="Times New Roman" panose="02020603050405020304" charset="0"/>
            </a:endParaRPr>
          </a:p>
          <a:p>
            <a:pPr>
              <a:buFont typeface="Arial" panose="020B0604020202020204" pitchFamily="34" charset="0"/>
              <a:buChar char="•"/>
            </a:pPr>
            <a:r>
              <a:rPr sz="1800" b="1">
                <a:latin typeface="Times New Roman" panose="02020603050405020304" charset="0"/>
                <a:cs typeface="Times New Roman" panose="02020603050405020304" charset="0"/>
                <a:sym typeface="+mn-ea"/>
              </a:rPr>
              <a:t>Scalability:</a:t>
            </a:r>
            <a:r>
              <a:rPr sz="1800">
                <a:latin typeface="Times New Roman" panose="02020603050405020304" charset="0"/>
                <a:cs typeface="Times New Roman" panose="02020603050405020304" charset="0"/>
                <a:sym typeface="+mn-ea"/>
              </a:rPr>
              <a:t> Easily expandable for larger datasets and real-world deployment.</a:t>
            </a:r>
            <a:endParaRPr sz="1800">
              <a:latin typeface="Times New Roman" panose="02020603050405020304" charset="0"/>
              <a:cs typeface="Times New Roman" panose="02020603050405020304" charset="0"/>
            </a:endParaRPr>
          </a:p>
          <a:p>
            <a:pPr>
              <a:buFont typeface="Arial" panose="020B0604020202020204" pitchFamily="34" charset="0"/>
              <a:buChar char="•"/>
            </a:pPr>
            <a:r>
              <a:rPr sz="1800" b="1">
                <a:latin typeface="Times New Roman" panose="02020603050405020304" charset="0"/>
                <a:cs typeface="Times New Roman" panose="02020603050405020304" charset="0"/>
                <a:sym typeface="+mn-ea"/>
              </a:rPr>
              <a:t>Cost Efficiency:</a:t>
            </a:r>
            <a:r>
              <a:rPr sz="1800">
                <a:latin typeface="Times New Roman" panose="02020603050405020304" charset="0"/>
                <a:cs typeface="Times New Roman" panose="02020603050405020304" charset="0"/>
                <a:sym typeface="+mn-ea"/>
              </a:rPr>
              <a:t> Reduces human labor, loss, and operational expenses.</a:t>
            </a:r>
            <a:endParaRPr sz="1800">
              <a:latin typeface="Times New Roman" panose="02020603050405020304" charset="0"/>
              <a:cs typeface="Times New Roman" panose="02020603050405020304" charset="0"/>
            </a:endParaRPr>
          </a:p>
          <a:p>
            <a:endParaRPr lang="en-US" sz="1800">
              <a:latin typeface="Times New Roman" panose="02020603050405020304" charset="0"/>
              <a:cs typeface="Times New Roman" panose="0202060305040502030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Architecture pic"/>
          <p:cNvPicPr>
            <a:picLocks noChangeAspect="1"/>
          </p:cNvPicPr>
          <p:nvPr>
            <p:ph idx="1"/>
          </p:nvPr>
        </p:nvPicPr>
        <p:blipFill>
          <a:blip r:embed="rId1"/>
          <a:stretch>
            <a:fillRect/>
          </a:stretch>
        </p:blipFill>
        <p:spPr>
          <a:xfrm>
            <a:off x="367665" y="405130"/>
            <a:ext cx="8373110" cy="578929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947420"/>
          </a:xfrm>
        </p:spPr>
        <p:txBody>
          <a:bodyPr/>
          <a:p>
            <a:r>
              <a:rPr sz="3200">
                <a:latin typeface="Times New Roman" panose="02020603050405020304" charset="0"/>
                <a:cs typeface="Times New Roman" panose="02020603050405020304" charset="0"/>
                <a:sym typeface="+mn-ea"/>
              </a:rPr>
              <a:t>Modules Split-Up</a:t>
            </a:r>
            <a:endParaRPr lang="en-GB" altLang="en-US" sz="3200">
              <a:latin typeface="Times New Roman" panose="02020603050405020304" charset="0"/>
              <a:cs typeface="Times New Roman" panose="02020603050405020304" charset="0"/>
              <a:sym typeface="+mn-ea"/>
            </a:endParaRPr>
          </a:p>
        </p:txBody>
      </p:sp>
      <p:sp>
        <p:nvSpPr>
          <p:cNvPr id="3" name="Content Placeholder 2"/>
          <p:cNvSpPr>
            <a:spLocks noGrp="1"/>
          </p:cNvSpPr>
          <p:nvPr>
            <p:ph idx="1"/>
          </p:nvPr>
        </p:nvSpPr>
        <p:spPr>
          <a:xfrm>
            <a:off x="457200" y="1434465"/>
            <a:ext cx="8229600" cy="4895215"/>
          </a:xfrm>
        </p:spPr>
        <p:txBody>
          <a:bodyPr>
            <a:normAutofit fontScale="50000"/>
          </a:bodyPr>
          <a:p>
            <a:pPr marL="0" indent="0">
              <a:buNone/>
            </a:pPr>
            <a:r>
              <a:rPr lang="en-US" altLang="en-GB" b="1">
                <a:latin typeface="Times New Roman" panose="02020603050405020304" charset="0"/>
                <a:cs typeface="Times New Roman" panose="02020603050405020304" charset="0"/>
                <a:sym typeface="+mn-ea"/>
              </a:rPr>
              <a:t>1.User Input </a:t>
            </a:r>
            <a:r>
              <a:rPr lang="en-US" altLang="en-GB">
                <a:latin typeface="Times New Roman" panose="02020603050405020304" charset="0"/>
                <a:cs typeface="Times New Roman" panose="02020603050405020304" charset="0"/>
                <a:sym typeface="+mn-ea"/>
              </a:rPr>
              <a:t>– Collects data or commands from the user to initiate the theft detection process.</a:t>
            </a:r>
            <a:endParaRPr lang="en-US" altLang="en-GB">
              <a:latin typeface="Times New Roman" panose="02020603050405020304" charset="0"/>
              <a:cs typeface="Times New Roman" panose="02020603050405020304" charset="0"/>
              <a:sym typeface="+mn-ea"/>
            </a:endParaRPr>
          </a:p>
          <a:p>
            <a:pPr marL="0" indent="0">
              <a:buNone/>
            </a:pPr>
            <a:endParaRPr lang="en-US" altLang="en-GB">
              <a:latin typeface="Times New Roman" panose="02020603050405020304" charset="0"/>
              <a:cs typeface="Times New Roman" panose="02020603050405020304" charset="0"/>
            </a:endParaRPr>
          </a:p>
          <a:p>
            <a:pPr marL="0" indent="0">
              <a:buNone/>
            </a:pPr>
            <a:r>
              <a:rPr lang="en-US" altLang="en-GB" b="1">
                <a:latin typeface="Times New Roman" panose="02020603050405020304" charset="0"/>
                <a:cs typeface="Times New Roman" panose="02020603050405020304" charset="0"/>
                <a:sym typeface="+mn-ea"/>
              </a:rPr>
              <a:t>2.Data Collection</a:t>
            </a:r>
            <a:r>
              <a:rPr lang="en-US" altLang="en-GB">
                <a:latin typeface="Times New Roman" panose="02020603050405020304" charset="0"/>
                <a:cs typeface="Times New Roman" panose="02020603050405020304" charset="0"/>
                <a:sym typeface="+mn-ea"/>
              </a:rPr>
              <a:t> – Gathers electricity consumption data from smart meters or datasets.</a:t>
            </a:r>
            <a:endParaRPr lang="en-US" altLang="en-GB">
              <a:latin typeface="Times New Roman" panose="02020603050405020304" charset="0"/>
              <a:cs typeface="Times New Roman" panose="02020603050405020304" charset="0"/>
            </a:endParaRPr>
          </a:p>
          <a:p>
            <a:endParaRPr lang="en-US" altLang="en-GB">
              <a:latin typeface="Times New Roman" panose="02020603050405020304" charset="0"/>
              <a:cs typeface="Times New Roman" panose="02020603050405020304" charset="0"/>
            </a:endParaRPr>
          </a:p>
          <a:p>
            <a:pPr marL="0" indent="0">
              <a:buNone/>
            </a:pPr>
            <a:r>
              <a:rPr lang="en-US" altLang="en-GB" b="1">
                <a:latin typeface="Times New Roman" panose="02020603050405020304" charset="0"/>
                <a:cs typeface="Times New Roman" panose="02020603050405020304" charset="0"/>
                <a:sym typeface="+mn-ea"/>
              </a:rPr>
              <a:t>3.Data Preprocessing </a:t>
            </a:r>
            <a:r>
              <a:rPr lang="en-US" altLang="en-GB">
                <a:latin typeface="Times New Roman" panose="02020603050405020304" charset="0"/>
                <a:cs typeface="Times New Roman" panose="02020603050405020304" charset="0"/>
                <a:sym typeface="+mn-ea"/>
              </a:rPr>
              <a:t>– Cleans and transforms raw data to ensure consistency and quality.</a:t>
            </a:r>
            <a:endParaRPr lang="en-US" altLang="en-GB">
              <a:latin typeface="Times New Roman" panose="02020603050405020304" charset="0"/>
              <a:cs typeface="Times New Roman" panose="02020603050405020304" charset="0"/>
            </a:endParaRPr>
          </a:p>
          <a:p>
            <a:endParaRPr lang="en-US" altLang="en-GB">
              <a:latin typeface="Times New Roman" panose="02020603050405020304" charset="0"/>
              <a:cs typeface="Times New Roman" panose="02020603050405020304" charset="0"/>
            </a:endParaRPr>
          </a:p>
          <a:p>
            <a:pPr marL="0" indent="0">
              <a:buNone/>
            </a:pPr>
            <a:r>
              <a:rPr lang="en-US" altLang="en-GB" b="1">
                <a:latin typeface="Times New Roman" panose="02020603050405020304" charset="0"/>
                <a:cs typeface="Times New Roman" panose="02020603050405020304" charset="0"/>
                <a:sym typeface="+mn-ea"/>
              </a:rPr>
              <a:t>4.Feature Extraction</a:t>
            </a:r>
            <a:r>
              <a:rPr lang="en-US" altLang="en-GB">
                <a:latin typeface="Times New Roman" panose="02020603050405020304" charset="0"/>
                <a:cs typeface="Times New Roman" panose="02020603050405020304" charset="0"/>
                <a:sym typeface="+mn-ea"/>
              </a:rPr>
              <a:t> – Identifies key patterns and attributes that influence theft detection.</a:t>
            </a:r>
            <a:endParaRPr lang="en-US" altLang="en-GB">
              <a:latin typeface="Times New Roman" panose="02020603050405020304" charset="0"/>
              <a:cs typeface="Times New Roman" panose="02020603050405020304" charset="0"/>
            </a:endParaRPr>
          </a:p>
          <a:p>
            <a:endParaRPr lang="en-US" altLang="en-GB">
              <a:latin typeface="Times New Roman" panose="02020603050405020304" charset="0"/>
              <a:cs typeface="Times New Roman" panose="02020603050405020304" charset="0"/>
            </a:endParaRPr>
          </a:p>
          <a:p>
            <a:pPr marL="0" indent="0">
              <a:buNone/>
            </a:pPr>
            <a:r>
              <a:rPr lang="en-US" altLang="en-GB" b="1">
                <a:latin typeface="Times New Roman" panose="02020603050405020304" charset="0"/>
                <a:cs typeface="Times New Roman" panose="02020603050405020304" charset="0"/>
                <a:sym typeface="+mn-ea"/>
              </a:rPr>
              <a:t>5.Model Training</a:t>
            </a:r>
            <a:r>
              <a:rPr lang="en-US" altLang="en-GB">
                <a:latin typeface="Times New Roman" panose="02020603050405020304" charset="0"/>
                <a:cs typeface="Times New Roman" panose="02020603050405020304" charset="0"/>
                <a:sym typeface="+mn-ea"/>
              </a:rPr>
              <a:t> – Uses machine learning algorithms to learn from historical data.</a:t>
            </a:r>
            <a:endParaRPr lang="en-US" altLang="en-GB">
              <a:latin typeface="Times New Roman" panose="02020603050405020304" charset="0"/>
              <a:cs typeface="Times New Roman" panose="02020603050405020304" charset="0"/>
            </a:endParaRPr>
          </a:p>
          <a:p>
            <a:endParaRPr lang="en-US" altLang="en-GB">
              <a:latin typeface="Times New Roman" panose="02020603050405020304" charset="0"/>
              <a:cs typeface="Times New Roman" panose="02020603050405020304" charset="0"/>
            </a:endParaRPr>
          </a:p>
          <a:p>
            <a:pPr marL="0" indent="0">
              <a:buNone/>
            </a:pPr>
            <a:r>
              <a:rPr lang="en-US" altLang="en-GB" b="1">
                <a:latin typeface="Times New Roman" panose="02020603050405020304" charset="0"/>
                <a:cs typeface="Times New Roman" panose="02020603050405020304" charset="0"/>
                <a:sym typeface="+mn-ea"/>
              </a:rPr>
              <a:t>6.Evaluation</a:t>
            </a:r>
            <a:r>
              <a:rPr lang="en-US" altLang="en-GB">
                <a:latin typeface="Times New Roman" panose="02020603050405020304" charset="0"/>
                <a:cs typeface="Times New Roman" panose="02020603050405020304" charset="0"/>
                <a:sym typeface="+mn-ea"/>
              </a:rPr>
              <a:t> – Assesses model performance using metrics like accuracy and recall.</a:t>
            </a:r>
            <a:endParaRPr lang="en-US" altLang="en-GB">
              <a:latin typeface="Times New Roman" panose="02020603050405020304" charset="0"/>
              <a:cs typeface="Times New Roman" panose="02020603050405020304" charset="0"/>
            </a:endParaRPr>
          </a:p>
          <a:p>
            <a:endParaRPr lang="en-US" altLang="en-GB">
              <a:latin typeface="Times New Roman" panose="02020603050405020304" charset="0"/>
              <a:cs typeface="Times New Roman" panose="02020603050405020304" charset="0"/>
            </a:endParaRPr>
          </a:p>
          <a:p>
            <a:pPr marL="0" indent="0">
              <a:buNone/>
            </a:pPr>
            <a:r>
              <a:rPr lang="en-US" altLang="en-GB" b="1">
                <a:latin typeface="Times New Roman" panose="02020603050405020304" charset="0"/>
                <a:cs typeface="Times New Roman" panose="02020603050405020304" charset="0"/>
                <a:sym typeface="+mn-ea"/>
              </a:rPr>
              <a:t>7.Dashboard </a:t>
            </a:r>
            <a:r>
              <a:rPr lang="en-US" altLang="en-GB">
                <a:latin typeface="Times New Roman" panose="02020603050405020304" charset="0"/>
                <a:cs typeface="Times New Roman" panose="02020603050405020304" charset="0"/>
                <a:sym typeface="+mn-ea"/>
              </a:rPr>
              <a:t>– Visualizes results and provides real-time monitoring of theft predictions.</a:t>
            </a:r>
            <a:endParaRPr lang="en-US" altLang="en-GB">
              <a:latin typeface="Times New Roman" panose="02020603050405020304" charset="0"/>
              <a:cs typeface="Times New Roman" panose="02020603050405020304" charset="0"/>
            </a:endParaRPr>
          </a:p>
          <a:p>
            <a:endParaRPr lang="en-US" altLang="en-GB">
              <a:latin typeface="Times New Roman" panose="02020603050405020304" charset="0"/>
              <a:cs typeface="Times New Roman" panose="02020603050405020304" charset="0"/>
            </a:endParaRPr>
          </a:p>
          <a:p>
            <a:pPr marL="0" indent="0">
              <a:buNone/>
            </a:pPr>
            <a:r>
              <a:rPr lang="en-US" altLang="en-GB" b="1">
                <a:latin typeface="Times New Roman" panose="02020603050405020304" charset="0"/>
                <a:cs typeface="Times New Roman" panose="02020603050405020304" charset="0"/>
                <a:sym typeface="+mn-ea"/>
              </a:rPr>
              <a:t>8.Output </a:t>
            </a:r>
            <a:r>
              <a:rPr lang="en-US" altLang="en-GB">
                <a:latin typeface="Times New Roman" panose="02020603050405020304" charset="0"/>
                <a:cs typeface="Times New Roman" panose="02020603050405020304" charset="0"/>
                <a:sym typeface="+mn-ea"/>
              </a:rPr>
              <a:t>– Displays final theft detection results or alerts based on analysis.</a:t>
            </a:r>
            <a:endParaRPr lang="en-US" altLang="en-GB">
              <a:latin typeface="Times New Roman" panose="02020603050405020304" charset="0"/>
              <a:cs typeface="Times New Roman" panose="02020603050405020304" charset="0"/>
            </a:endParaRPr>
          </a:p>
          <a:p>
            <a:endParaRPr lang="en-GB"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457200" y="274955"/>
            <a:ext cx="8229600" cy="847090"/>
          </a:xfrm>
        </p:spPr>
        <p:txBody>
          <a:bodyPr/>
          <a:lstStyle/>
          <a:p>
            <a:r>
              <a:rPr sz="3600">
                <a:latin typeface="Times New Roman" panose="02020603050405020304" charset="0"/>
                <a:cs typeface="Times New Roman" panose="02020603050405020304" charset="0"/>
              </a:rPr>
              <a:t>Requirements</a:t>
            </a:r>
            <a:endParaRPr sz="36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262890" y="1139190"/>
            <a:ext cx="8229600" cy="5384800"/>
          </a:xfrm>
        </p:spPr>
        <p:txBody>
          <a:bodyPr>
            <a:normAutofit/>
          </a:bodyPr>
          <a:lstStyle/>
          <a:p/>
          <a:p>
            <a:pPr marL="0" indent="0">
              <a:buNone/>
            </a:pPr>
          </a:p>
          <a:p>
            <a:pPr marL="0" indent="0">
              <a:buNone/>
            </a:pPr>
          </a:p>
        </p:txBody>
      </p:sp>
      <p:sp>
        <p:nvSpPr>
          <p:cNvPr id="11" name="Text Box 10"/>
          <p:cNvSpPr txBox="1"/>
          <p:nvPr/>
        </p:nvSpPr>
        <p:spPr>
          <a:xfrm>
            <a:off x="262890" y="1336040"/>
            <a:ext cx="4241800" cy="421005"/>
          </a:xfrm>
          <a:prstGeom prst="rect">
            <a:avLst/>
          </a:prstGeom>
        </p:spPr>
        <p:txBody>
          <a:bodyPr>
            <a:noAutofit/>
          </a:bodyPr>
          <a:p>
            <a:pPr>
              <a:spcAft>
                <a:spcPct val="60000"/>
              </a:spcAft>
            </a:pPr>
            <a:r>
              <a:rPr sz="2000" b="1"/>
              <a:t>Software Requirements</a:t>
            </a:r>
            <a:r>
              <a:rPr lang="en-US" sz="2000" b="1"/>
              <a:t>:</a:t>
            </a:r>
            <a:endParaRPr lang="en-US" sz="2000" b="1"/>
          </a:p>
        </p:txBody>
      </p:sp>
      <p:graphicFrame>
        <p:nvGraphicFramePr>
          <p:cNvPr id="12" name="Table 11"/>
          <p:cNvGraphicFramePr/>
          <p:nvPr>
            <p:custDataLst>
              <p:tags r:id="rId1"/>
            </p:custDataLst>
          </p:nvPr>
        </p:nvGraphicFramePr>
        <p:xfrm>
          <a:off x="457835" y="1770380"/>
          <a:ext cx="8422005" cy="1873250"/>
        </p:xfrm>
        <a:graphic>
          <a:graphicData uri="http://schemas.openxmlformats.org/drawingml/2006/table">
            <a:tbl>
              <a:tblPr/>
              <a:tblGrid>
                <a:gridCol w="3783330"/>
                <a:gridCol w="4638675"/>
              </a:tblGrid>
              <a:tr h="227330">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r>
              <a:tr h="227330">
                <a:tc>
                  <a:txBody>
                    <a:bodyPr/>
                    <a:p>
                      <a:r>
                        <a:rPr lang="en-US" sz="1800"/>
                        <a:t>O</a:t>
                      </a:r>
                      <a:r>
                        <a:rPr sz="1800"/>
                        <a:t>perating System</a:t>
                      </a:r>
                      <a:endParaRPr sz="1800"/>
                    </a:p>
                  </a:txBody>
                  <a:tcPr marL="0" marR="0" marT="0" marB="0" anchor="ctr" anchorCtr="0">
                    <a:lnL>
                      <a:noFill/>
                    </a:lnL>
                    <a:lnR>
                      <a:noFill/>
                    </a:lnR>
                    <a:lnT>
                      <a:noFill/>
                    </a:lnT>
                    <a:lnB>
                      <a:noFill/>
                    </a:lnB>
                    <a:noFill/>
                  </a:tcPr>
                </a:tc>
                <a:tc>
                  <a:txBody>
                    <a:bodyPr/>
                    <a:p>
                      <a:r>
                        <a:rPr sz="1800"/>
                        <a:t>Windows 11 or Above </a:t>
                      </a:r>
                      <a:endParaRPr sz="1800"/>
                    </a:p>
                  </a:txBody>
                  <a:tcPr marL="0" marR="0" marT="0" marB="0" anchor="ctr" anchorCtr="0">
                    <a:lnL>
                      <a:noFill/>
                    </a:lnL>
                    <a:lnR>
                      <a:noFill/>
                    </a:lnR>
                    <a:lnT>
                      <a:noFill/>
                    </a:lnT>
                    <a:lnB>
                      <a:noFill/>
                    </a:lnB>
                    <a:noFill/>
                  </a:tcPr>
                </a:tc>
              </a:tr>
              <a:tr h="227330">
                <a:tc>
                  <a:txBody>
                    <a:bodyPr/>
                    <a:p>
                      <a:r>
                        <a:rPr sz="1800"/>
                        <a:t>Server</a:t>
                      </a:r>
                      <a:endParaRPr sz="1800"/>
                    </a:p>
                  </a:txBody>
                  <a:tcPr marL="0" marR="0" marT="0" marB="0" anchor="ctr" anchorCtr="0">
                    <a:lnL>
                      <a:noFill/>
                    </a:lnL>
                    <a:lnR>
                      <a:noFill/>
                    </a:lnR>
                    <a:lnT>
                      <a:noFill/>
                    </a:lnT>
                    <a:lnB>
                      <a:noFill/>
                    </a:lnB>
                    <a:noFill/>
                  </a:tcPr>
                </a:tc>
                <a:tc>
                  <a:txBody>
                    <a:bodyPr/>
                    <a:p>
                      <a:r>
                        <a:rPr sz="1800"/>
                        <a:t>Flask  (for interface/dashboard)</a:t>
                      </a:r>
                      <a:endParaRPr sz="1800"/>
                    </a:p>
                  </a:txBody>
                  <a:tcPr marL="0" marR="0" marT="0" marB="0" anchor="ctr" anchorCtr="0">
                    <a:lnL>
                      <a:noFill/>
                    </a:lnL>
                    <a:lnR>
                      <a:noFill/>
                    </a:lnR>
                    <a:lnT>
                      <a:noFill/>
                    </a:lnT>
                    <a:lnB>
                      <a:noFill/>
                    </a:lnB>
                    <a:noFill/>
                  </a:tcPr>
                </a:tc>
              </a:tr>
              <a:tr h="227330">
                <a:tc>
                  <a:txBody>
                    <a:bodyPr/>
                    <a:p>
                      <a:r>
                        <a:rPr sz="1800"/>
                        <a:t>Programming</a:t>
                      </a:r>
                      <a:endParaRPr sz="1800"/>
                    </a:p>
                  </a:txBody>
                  <a:tcPr marL="0" marR="0" marT="0" marB="0" anchor="ctr" anchorCtr="0">
                    <a:lnL>
                      <a:noFill/>
                    </a:lnL>
                    <a:lnR>
                      <a:noFill/>
                    </a:lnR>
                    <a:lnT>
                      <a:noFill/>
                    </a:lnT>
                    <a:lnB>
                      <a:noFill/>
                    </a:lnB>
                    <a:noFill/>
                  </a:tcPr>
                </a:tc>
                <a:tc>
                  <a:txBody>
                    <a:bodyPr/>
                    <a:p>
                      <a:r>
                        <a:rPr sz="1800"/>
                        <a:t>Python 3.7 or Above</a:t>
                      </a:r>
                      <a:endParaRPr sz="1800"/>
                    </a:p>
                  </a:txBody>
                  <a:tcPr marL="0" marR="0" marT="0" marB="0" anchor="ctr" anchorCtr="0">
                    <a:lnL>
                      <a:noFill/>
                    </a:lnL>
                    <a:lnR>
                      <a:noFill/>
                    </a:lnR>
                    <a:lnT>
                      <a:noFill/>
                    </a:lnT>
                    <a:lnB>
                      <a:noFill/>
                    </a:lnB>
                    <a:noFill/>
                  </a:tcPr>
                </a:tc>
              </a:tr>
              <a:tr h="227330">
                <a:tc>
                  <a:txBody>
                    <a:bodyPr/>
                    <a:p>
                      <a:r>
                        <a:rPr sz="1800"/>
                        <a:t>FrontEnd</a:t>
                      </a:r>
                      <a:endParaRPr sz="1800"/>
                    </a:p>
                  </a:txBody>
                  <a:tcPr marL="0" marR="0" marT="0" marB="0" anchor="ctr" anchorCtr="0">
                    <a:lnL>
                      <a:noFill/>
                    </a:lnL>
                    <a:lnR>
                      <a:noFill/>
                    </a:lnR>
                    <a:lnT>
                      <a:noFill/>
                    </a:lnT>
                    <a:lnB>
                      <a:noFill/>
                    </a:lnB>
                    <a:noFill/>
                  </a:tcPr>
                </a:tc>
                <a:tc>
                  <a:txBody>
                    <a:bodyPr/>
                    <a:p>
                      <a:r>
                        <a:rPr sz="1800"/>
                        <a:t>HTML </a:t>
                      </a:r>
                      <a:r>
                        <a:rPr lang="en-US" sz="1800"/>
                        <a:t>, </a:t>
                      </a:r>
                      <a:r>
                        <a:rPr sz="1800"/>
                        <a:t>CSS </a:t>
                      </a:r>
                      <a:r>
                        <a:rPr lang="en-US" sz="1800"/>
                        <a:t>, </a:t>
                      </a:r>
                      <a:r>
                        <a:rPr sz="1800"/>
                        <a:t>Bootstrap </a:t>
                      </a:r>
                      <a:endParaRPr sz="1800"/>
                    </a:p>
                  </a:txBody>
                  <a:tcPr marL="0" marR="0" marT="0" marB="0" anchor="ctr" anchorCtr="0">
                    <a:lnL>
                      <a:noFill/>
                    </a:lnL>
                    <a:lnR>
                      <a:noFill/>
                    </a:lnR>
                    <a:lnT>
                      <a:noFill/>
                    </a:lnT>
                    <a:lnB>
                      <a:noFill/>
                    </a:lnB>
                    <a:noFill/>
                  </a:tcPr>
                </a:tc>
              </a:tr>
              <a:tr h="227330">
                <a:tc>
                  <a:txBody>
                    <a:bodyPr/>
                    <a:p>
                      <a:r>
                        <a:rPr sz="1800"/>
                        <a:t>IDE</a:t>
                      </a:r>
                      <a:endParaRPr sz="1800"/>
                    </a:p>
                  </a:txBody>
                  <a:tcPr marL="0" marR="0" marT="0" marB="0" anchor="ctr" anchorCtr="0">
                    <a:lnL>
                      <a:noFill/>
                    </a:lnL>
                    <a:lnR>
                      <a:noFill/>
                    </a:lnR>
                    <a:lnT>
                      <a:noFill/>
                    </a:lnT>
                    <a:lnB>
                      <a:noFill/>
                    </a:lnB>
                    <a:noFill/>
                  </a:tcPr>
                </a:tc>
                <a:tc>
                  <a:txBody>
                    <a:bodyPr/>
                    <a:p>
                      <a:r>
                        <a:rPr sz="1800"/>
                        <a:t>VS Code</a:t>
                      </a:r>
                      <a:endParaRPr sz="1800"/>
                    </a:p>
                  </a:txBody>
                  <a:tcPr marL="0" marR="0" marT="0" marB="0" anchor="ctr" anchorCtr="0">
                    <a:lnL>
                      <a:noFill/>
                    </a:lnL>
                    <a:lnR>
                      <a:noFill/>
                    </a:lnR>
                    <a:lnT>
                      <a:noFill/>
                    </a:lnT>
                    <a:lnB>
                      <a:noFill/>
                    </a:lnB>
                    <a:noFill/>
                  </a:tcPr>
                </a:tc>
              </a:tr>
              <a:tr h="227330">
                <a:tc>
                  <a:txBody>
                    <a:bodyPr/>
                    <a:p>
                      <a:r>
                        <a:rPr sz="1800"/>
                        <a:t>Database</a:t>
                      </a:r>
                      <a:endParaRPr sz="1800"/>
                    </a:p>
                  </a:txBody>
                  <a:tcPr marL="0" marR="0" marT="0" marB="0" anchor="ctr" anchorCtr="0">
                    <a:lnL>
                      <a:noFill/>
                    </a:lnL>
                    <a:lnR>
                      <a:noFill/>
                    </a:lnR>
                    <a:lnT>
                      <a:noFill/>
                    </a:lnT>
                    <a:lnB>
                      <a:noFill/>
                    </a:lnB>
                    <a:noFill/>
                  </a:tcPr>
                </a:tc>
                <a:tc>
                  <a:txBody>
                    <a:bodyPr/>
                    <a:p>
                      <a:r>
                        <a:rPr sz="1800"/>
                        <a:t>MySQL </a:t>
                      </a:r>
                      <a:endParaRPr sz="1800"/>
                    </a:p>
                  </a:txBody>
                  <a:tcPr marL="0" marR="0" marT="0" marB="0" anchor="ctr" anchorCtr="0">
                    <a:lnL>
                      <a:noFill/>
                    </a:lnL>
                    <a:lnR>
                      <a:noFill/>
                    </a:lnR>
                    <a:lnT>
                      <a:noFill/>
                    </a:lnT>
                    <a:lnB>
                      <a:noFill/>
                    </a:lnB>
                    <a:noFill/>
                  </a:tcPr>
                </a:tc>
              </a:tr>
            </a:tbl>
          </a:graphicData>
        </a:graphic>
      </p:graphicFrame>
      <p:sp>
        <p:nvSpPr>
          <p:cNvPr id="14" name="Text Box 13"/>
          <p:cNvSpPr txBox="1"/>
          <p:nvPr/>
        </p:nvSpPr>
        <p:spPr>
          <a:xfrm rot="10800000" flipV="1">
            <a:off x="238125" y="3472180"/>
            <a:ext cx="6873875" cy="711200"/>
          </a:xfrm>
          <a:prstGeom prst="rect">
            <a:avLst/>
          </a:prstGeom>
        </p:spPr>
        <p:txBody>
          <a:bodyPr>
            <a:noAutofit/>
          </a:bodyPr>
          <a:p>
            <a:pPr>
              <a:spcAft>
                <a:spcPct val="60000"/>
              </a:spcAft>
            </a:pPr>
            <a:endParaRPr sz="1600" b="1"/>
          </a:p>
          <a:p>
            <a:pPr>
              <a:spcAft>
                <a:spcPct val="60000"/>
              </a:spcAft>
            </a:pPr>
            <a:r>
              <a:rPr sz="2000" b="1"/>
              <a:t>Hardware Requirements</a:t>
            </a:r>
            <a:r>
              <a:rPr lang="en-US" sz="2000" b="1"/>
              <a:t>:</a:t>
            </a:r>
            <a:endParaRPr lang="en-US" sz="2000" b="1"/>
          </a:p>
        </p:txBody>
      </p:sp>
      <p:graphicFrame>
        <p:nvGraphicFramePr>
          <p:cNvPr id="15" name="Table 14"/>
          <p:cNvGraphicFramePr/>
          <p:nvPr>
            <p:custDataLst>
              <p:tags r:id="rId2"/>
            </p:custDataLst>
          </p:nvPr>
        </p:nvGraphicFramePr>
        <p:xfrm>
          <a:off x="448310" y="4478020"/>
          <a:ext cx="7626985" cy="1438910"/>
        </p:xfrm>
        <a:graphic>
          <a:graphicData uri="http://schemas.openxmlformats.org/drawingml/2006/table">
            <a:tbl>
              <a:tblPr/>
              <a:tblGrid>
                <a:gridCol w="3763010"/>
                <a:gridCol w="3863975"/>
              </a:tblGrid>
              <a:tr h="167640">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r>
              <a:tr h="167640">
                <a:tc>
                  <a:txBody>
                    <a:bodyPr/>
                    <a:p>
                      <a:r>
                        <a:rPr sz="1800"/>
                        <a:t>System</a:t>
                      </a:r>
                      <a:endParaRPr sz="1800"/>
                    </a:p>
                  </a:txBody>
                  <a:tcPr marL="0" marR="0" marT="0" marB="0" anchor="ctr" anchorCtr="0">
                    <a:lnL>
                      <a:noFill/>
                    </a:lnL>
                    <a:lnR>
                      <a:noFill/>
                    </a:lnR>
                    <a:lnT>
                      <a:noFill/>
                    </a:lnT>
                    <a:lnB>
                      <a:noFill/>
                    </a:lnB>
                    <a:noFill/>
                  </a:tcPr>
                </a:tc>
                <a:tc>
                  <a:txBody>
                    <a:bodyPr/>
                    <a:p>
                      <a:r>
                        <a:rPr sz="1800"/>
                        <a:t>Intel Core i</a:t>
                      </a:r>
                      <a:r>
                        <a:rPr lang="en-US" sz="1800"/>
                        <a:t>5</a:t>
                      </a:r>
                      <a:r>
                        <a:rPr sz="1800"/>
                        <a:t> or Higher</a:t>
                      </a:r>
                      <a:endParaRPr sz="1800"/>
                    </a:p>
                  </a:txBody>
                  <a:tcPr marL="0" marR="0" marT="0" marB="0" anchor="ctr" anchorCtr="0">
                    <a:lnL>
                      <a:noFill/>
                    </a:lnL>
                    <a:lnR>
                      <a:noFill/>
                    </a:lnR>
                    <a:lnT>
                      <a:noFill/>
                    </a:lnT>
                    <a:lnB>
                      <a:noFill/>
                    </a:lnB>
                    <a:noFill/>
                  </a:tcPr>
                </a:tc>
              </a:tr>
              <a:tr h="167640">
                <a:tc>
                  <a:txBody>
                    <a:bodyPr/>
                    <a:p>
                      <a:r>
                        <a:rPr sz="1800"/>
                        <a:t>Hard Disk</a:t>
                      </a:r>
                      <a:endParaRPr sz="1800"/>
                    </a:p>
                  </a:txBody>
                  <a:tcPr marL="0" marR="0" marT="0" marB="0" anchor="ctr" anchorCtr="0">
                    <a:lnL>
                      <a:noFill/>
                    </a:lnL>
                    <a:lnR>
                      <a:noFill/>
                    </a:lnR>
                    <a:lnT>
                      <a:noFill/>
                    </a:lnT>
                    <a:lnB>
                      <a:noFill/>
                    </a:lnB>
                    <a:noFill/>
                  </a:tcPr>
                </a:tc>
                <a:tc>
                  <a:txBody>
                    <a:bodyPr/>
                    <a:p>
                      <a:r>
                        <a:rPr sz="1800"/>
                        <a:t>5</a:t>
                      </a:r>
                      <a:r>
                        <a:rPr lang="en-US" sz="1800"/>
                        <a:t>12</a:t>
                      </a:r>
                      <a:r>
                        <a:rPr sz="1800"/>
                        <a:t> GB (SSD Preferred)</a:t>
                      </a:r>
                      <a:endParaRPr sz="1800"/>
                    </a:p>
                  </a:txBody>
                  <a:tcPr marL="0" marR="0" marT="0" marB="0" anchor="ctr" anchorCtr="0">
                    <a:lnL>
                      <a:noFill/>
                    </a:lnL>
                    <a:lnR>
                      <a:noFill/>
                    </a:lnR>
                    <a:lnT>
                      <a:noFill/>
                    </a:lnT>
                    <a:lnB>
                      <a:noFill/>
                    </a:lnB>
                    <a:noFill/>
                  </a:tcPr>
                </a:tc>
              </a:tr>
              <a:tr h="167640">
                <a:tc>
                  <a:txBody>
                    <a:bodyPr/>
                    <a:p>
                      <a:r>
                        <a:rPr sz="1800"/>
                        <a:t>RAM</a:t>
                      </a:r>
                      <a:endParaRPr sz="1800"/>
                    </a:p>
                  </a:txBody>
                  <a:tcPr marL="0" marR="0" marT="0" marB="0" anchor="ctr" anchorCtr="0">
                    <a:lnL>
                      <a:noFill/>
                    </a:lnL>
                    <a:lnR>
                      <a:noFill/>
                    </a:lnR>
                    <a:lnT>
                      <a:noFill/>
                    </a:lnT>
                    <a:lnB>
                      <a:noFill/>
                    </a:lnB>
                    <a:noFill/>
                  </a:tcPr>
                </a:tc>
                <a:tc>
                  <a:txBody>
                    <a:bodyPr/>
                    <a:p>
                      <a:r>
                        <a:rPr sz="1800"/>
                        <a:t>8 GB Minimum</a:t>
                      </a:r>
                      <a:endParaRPr sz="1800"/>
                    </a:p>
                  </a:txBody>
                  <a:tcPr marL="0" marR="0" marT="0" marB="0" anchor="ctr" anchorCtr="0">
                    <a:lnL>
                      <a:noFill/>
                    </a:lnL>
                    <a:lnR>
                      <a:noFill/>
                    </a:lnR>
                    <a:lnT>
                      <a:noFill/>
                    </a:lnT>
                    <a:lnB>
                      <a:noFill/>
                    </a:lnB>
                    <a:noFill/>
                  </a:tcPr>
                </a:tc>
              </a:tr>
              <a:tr h="448310">
                <a:tc>
                  <a:txBody>
                    <a:bodyPr/>
                    <a:p>
                      <a:endParaRPr sz="1100"/>
                    </a:p>
                  </a:txBody>
                  <a:tcPr marL="0" marR="0" marT="0" marB="0" anchor="ctr" anchorCtr="0">
                    <a:lnL>
                      <a:noFill/>
                    </a:lnL>
                    <a:lnR>
                      <a:noFill/>
                    </a:lnR>
                    <a:lnT>
                      <a:noFill/>
                    </a:lnT>
                    <a:lnB>
                      <a:noFill/>
                    </a:lnB>
                    <a:noFill/>
                  </a:tcPr>
                </a:tc>
                <a:tc>
                  <a:txBody>
                    <a:bodyPr/>
                    <a:p>
                      <a:endParaRPr sz="1100"/>
                    </a:p>
                  </a:txBody>
                  <a:tcPr marL="0" marR="0" marT="0" marB="0" anchor="ctr" anchorCtr="0">
                    <a:lnL>
                      <a:noFill/>
                    </a:lnL>
                    <a:lnR>
                      <a:noFill/>
                    </a:lnR>
                    <a:lnT>
                      <a:noFill/>
                    </a:lnT>
                    <a:lnB>
                      <a:noFill/>
                    </a:lnB>
                    <a:no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lstStyle/>
          <a:p>
            <a:r>
              <a:rPr sz="4000">
                <a:latin typeface="Times New Roman" panose="02020603050405020304" charset="0"/>
                <a:cs typeface="Times New Roman" panose="02020603050405020304" charset="0"/>
              </a:rPr>
              <a:t>References</a:t>
            </a:r>
            <a:endParaRPr sz="4000">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457200" y="1417955"/>
            <a:ext cx="8229600" cy="4708525"/>
          </a:xfrm>
        </p:spPr>
        <p:txBody>
          <a:bodyPr>
            <a:normAutofit/>
          </a:bodyPr>
          <a:lstStyle/>
          <a:p>
            <a:pPr marL="0" indent="0" algn="l">
              <a:buNone/>
            </a:pPr>
            <a:r>
              <a:rPr sz="2400">
                <a:latin typeface="Times New Roman" panose="02020603050405020304" charset="0"/>
                <a:cs typeface="Times New Roman" panose="02020603050405020304" charset="0"/>
                <a:sym typeface="+mn-ea"/>
              </a:rPr>
              <a:t>1. A Comprehensive Review on Electricity Theft Detection using ML Techniques – IJERT, 2023</a:t>
            </a:r>
            <a:r>
              <a:rPr lang="en-US" sz="2400">
                <a:latin typeface="Times New Roman" panose="02020603050405020304" charset="0"/>
                <a:cs typeface="Times New Roman" panose="02020603050405020304" charset="0"/>
                <a:sym typeface="+mn-ea"/>
              </a:rPr>
              <a:t>.</a:t>
            </a:r>
            <a:endParaRPr sz="2400">
              <a:latin typeface="Times New Roman" panose="02020603050405020304" charset="0"/>
              <a:cs typeface="Times New Roman" panose="02020603050405020304" charset="0"/>
            </a:endParaRPr>
          </a:p>
          <a:p>
            <a:pPr marL="0" indent="0" algn="l">
              <a:buNone/>
            </a:pPr>
            <a:r>
              <a:rPr sz="2400">
                <a:latin typeface="Times New Roman" panose="02020603050405020304" charset="0"/>
                <a:cs typeface="Times New Roman" panose="02020603050405020304" charset="0"/>
                <a:sym typeface="+mn-ea"/>
              </a:rPr>
              <a:t>2. Smart Meter Based Frameworks for Theft Detection – Elsevier Energy Reports, 2022</a:t>
            </a:r>
            <a:r>
              <a:rPr lang="en-US" sz="2400">
                <a:latin typeface="Times New Roman" panose="02020603050405020304" charset="0"/>
                <a:cs typeface="Times New Roman" panose="02020603050405020304" charset="0"/>
                <a:sym typeface="+mn-ea"/>
              </a:rPr>
              <a:t>.</a:t>
            </a:r>
            <a:endParaRPr sz="2400">
              <a:latin typeface="Times New Roman" panose="02020603050405020304" charset="0"/>
              <a:cs typeface="Times New Roman" panose="02020603050405020304" charset="0"/>
            </a:endParaRPr>
          </a:p>
          <a:p>
            <a:pPr marL="0" indent="0" algn="l">
              <a:buNone/>
            </a:pPr>
            <a:r>
              <a:rPr sz="2400">
                <a:latin typeface="Times New Roman" panose="02020603050405020304" charset="0"/>
                <a:cs typeface="Times New Roman" panose="02020603050405020304" charset="0"/>
                <a:sym typeface="+mn-ea"/>
              </a:rPr>
              <a:t>3. Comparative Study on ML Classifiers for Power Theft – IEEE Access, 2022</a:t>
            </a:r>
            <a:r>
              <a:rPr lang="en-US" sz="2400">
                <a:latin typeface="Times New Roman" panose="02020603050405020304" charset="0"/>
                <a:cs typeface="Times New Roman" panose="02020603050405020304" charset="0"/>
                <a:sym typeface="+mn-ea"/>
              </a:rPr>
              <a:t>.</a:t>
            </a:r>
            <a:endParaRPr sz="2400">
              <a:latin typeface="Times New Roman" panose="02020603050405020304" charset="0"/>
              <a:cs typeface="Times New Roman" panose="02020603050405020304" charset="0"/>
            </a:endParaRPr>
          </a:p>
          <a:p>
            <a:pPr marL="0" indent="0" algn="l">
              <a:buNone/>
            </a:pPr>
            <a:r>
              <a:rPr sz="2400">
                <a:latin typeface="Times New Roman" panose="02020603050405020304" charset="0"/>
                <a:cs typeface="Times New Roman" panose="02020603050405020304" charset="0"/>
                <a:sym typeface="+mn-ea"/>
              </a:rPr>
              <a:t>4. Anomaly Detection Using XGBoost for Power Consumption – Springer, 2021</a:t>
            </a:r>
            <a:r>
              <a:rPr lang="en-US" sz="2400">
                <a:latin typeface="Times New Roman" panose="02020603050405020304" charset="0"/>
                <a:cs typeface="Times New Roman" panose="02020603050405020304" charset="0"/>
                <a:sym typeface="+mn-ea"/>
              </a:rPr>
              <a:t>.</a:t>
            </a:r>
            <a:endParaRPr sz="2400">
              <a:latin typeface="Times New Roman" panose="02020603050405020304" charset="0"/>
              <a:cs typeface="Times New Roman" panose="02020603050405020304" charset="0"/>
            </a:endParaRPr>
          </a:p>
          <a:p>
            <a:pPr marL="0" indent="0" algn="l">
              <a:buNone/>
            </a:pPr>
            <a:r>
              <a:rPr sz="2400">
                <a:latin typeface="Times New Roman" panose="02020603050405020304" charset="0"/>
                <a:cs typeface="Times New Roman" panose="02020603050405020304" charset="0"/>
                <a:sym typeface="+mn-ea"/>
              </a:rPr>
              <a:t>5. Real-time Electricity Theft Monitoring via Smart Grids – IEEE IoT Journal, 2023</a:t>
            </a:r>
            <a:r>
              <a:rPr lang="en-US" sz="2400">
                <a:latin typeface="Times New Roman" panose="02020603050405020304" charset="0"/>
                <a:cs typeface="Times New Roman" panose="02020603050405020304" charset="0"/>
                <a:sym typeface="+mn-ea"/>
              </a:rPr>
              <a:t>.</a:t>
            </a:r>
            <a:endParaRPr sz="2400">
              <a:latin typeface="Times New Roman" panose="02020603050405020304" charset="0"/>
              <a:cs typeface="Times New Roman" panose="02020603050405020304" charset="0"/>
            </a:endParaRPr>
          </a:p>
          <a:p>
            <a:pPr marL="0" indent="0">
              <a:buNone/>
            </a:pP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ctrTitle"/>
          </p:nvPr>
        </p:nvSpPr>
        <p:spPr/>
        <p:txBody>
          <a:bodyPr/>
          <a:p>
            <a:br>
              <a:rPr lang="en-US" altLang="en-GB"/>
            </a:br>
            <a:r>
              <a:rPr lang="en-US" altLang="en-GB"/>
              <a:t>THANK YOU</a:t>
            </a:r>
            <a:endParaRPr lang="en-US" altLang="en-GB"/>
          </a:p>
        </p:txBody>
      </p:sp>
      <p:pic>
        <p:nvPicPr>
          <p:cNvPr id="3" name="Picture 2"/>
          <p:cNvPicPr>
            <a:picLocks noChangeAspect="1"/>
          </p:cNvPicPr>
          <p:nvPr/>
        </p:nvPicPr>
        <p:blipFill>
          <a:blip r:embed="rId1"/>
          <a:stretch>
            <a:fillRect/>
          </a:stretch>
        </p:blipFill>
        <p:spPr>
          <a:xfrm>
            <a:off x="-1524000" y="0"/>
            <a:ext cx="12192000" cy="6858000"/>
          </a:xfrm>
          <a:prstGeom prst="rect">
            <a:avLst/>
          </a:prstGeom>
        </p:spPr>
      </p:pic>
    </p:spTree>
  </p:cSld>
  <p:clrMapOvr>
    <a:masterClrMapping/>
  </p:clrMapOvr>
</p:sld>
</file>

<file path=ppt/tags/tag1.xml><?xml version="1.0" encoding="utf-8"?>
<p:tagLst xmlns:p="http://schemas.openxmlformats.org/presentationml/2006/main">
  <p:tag name="TABLE_ENDDRAG_ORIGIN_RECT" val="698*515"/>
  <p:tag name="TABLE_ENDDRAG_RECT" val="12*14*698*515"/>
</p:tagLst>
</file>

<file path=ppt/tags/tag2.xml><?xml version="1.0" encoding="utf-8"?>
<p:tagLst xmlns:p="http://schemas.openxmlformats.org/presentationml/2006/main">
  <p:tag name="TABLE_ENDDRAG_ORIGIN_RECT" val="678*125"/>
  <p:tag name="TABLE_ENDDRAG_RECT" val="20*139*678*125"/>
</p:tagLst>
</file>

<file path=ppt/tags/tag3.xml><?xml version="1.0" encoding="utf-8"?>
<p:tagLst xmlns:p="http://schemas.openxmlformats.org/presentationml/2006/main">
  <p:tag name="TABLE_ENDDRAG_ORIGIN_RECT" val="621*95"/>
  <p:tag name="TABLE_ENDDRAG_RECT" val="14*352*621*9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8134</Words>
  <Application>WPS Slides</Application>
  <PresentationFormat>On-screen Show (4:3)</PresentationFormat>
  <Paragraphs>296</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16</vt:i4>
      </vt:variant>
    </vt:vector>
  </HeadingPairs>
  <TitlesOfParts>
    <vt:vector size="27" baseType="lpstr">
      <vt:lpstr>Arial</vt:lpstr>
      <vt:lpstr>SimSun</vt:lpstr>
      <vt:lpstr>Wingdings</vt:lpstr>
      <vt:lpstr>Arial</vt:lpstr>
      <vt:lpstr>Times New Roman</vt:lpstr>
      <vt:lpstr>Wingdings</vt:lpstr>
      <vt:lpstr>Times New Roman</vt:lpstr>
      <vt:lpstr>Calibri</vt:lpstr>
      <vt:lpstr>Microsoft YaHei</vt:lpstr>
      <vt:lpstr>Arial Unicode MS</vt:lpstr>
      <vt:lpstr>Office Theme</vt:lpstr>
      <vt:lpstr>r</vt:lpstr>
      <vt:lpstr>Contents</vt:lpstr>
      <vt:lpstr>PowerPoint 演示文稿</vt:lpstr>
      <vt:lpstr>Overview of the Project</vt:lpstr>
      <vt:lpstr>Problem Statement</vt:lpstr>
      <vt:lpstr>Objectives of the Project</vt:lpstr>
      <vt:lpstr>Methodology Adopted</vt:lpstr>
      <vt:lpstr>Literature Survey</vt:lpstr>
      <vt:lpstr>PowerPoint 演示文稿</vt:lpstr>
      <vt:lpstr>Existing System</vt:lpstr>
      <vt:lpstr>Proposed System</vt:lpstr>
      <vt:lpstr>PowerPoint 演示文稿</vt:lpstr>
      <vt:lpstr>Modules Split-Up</vt:lpstr>
      <vt:lpstr>Requirements</vt:lpstr>
      <vt:lpstr>References</vt:lpstr>
      <vt:lpstr> 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Govardhan Reddicharla</cp:lastModifiedBy>
  <cp:revision>13</cp:revision>
  <dcterms:created xsi:type="dcterms:W3CDTF">2013-01-27T09:14:00Z</dcterms:created>
  <dcterms:modified xsi:type="dcterms:W3CDTF">2025-04-20T12:09:25Z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6497A45CD79F4171B5D8C3AF6F9A163B_13</vt:lpwstr>
  </property>
  <property fmtid="{D5CDD505-2E9C-101B-9397-08002B2CF9AE}" pid="3" name="KSOProductBuildVer">
    <vt:lpwstr>2057-12.2.0.20796</vt:lpwstr>
  </property>
</Properties>
</file>