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3"/>
    <p:sldId id="278" r:id="rId4"/>
    <p:sldId id="258" r:id="rId5"/>
    <p:sldId id="262" r:id="rId6"/>
    <p:sldId id="266" r:id="rId7"/>
    <p:sldId id="279" r:id="rId8"/>
    <p:sldId id="280" r:id="rId9"/>
    <p:sldId id="294" r:id="rId10"/>
    <p:sldId id="295" r:id="rId11"/>
    <p:sldId id="297" r:id="rId12"/>
    <p:sldId id="299" r:id="rId13"/>
    <p:sldId id="300" r:id="rId14"/>
    <p:sldId id="301" r:id="rId15"/>
    <p:sldId id="305" r:id="rId16"/>
    <p:sldId id="306" r:id="rId17"/>
    <p:sldId id="307" r:id="rId18"/>
    <p:sldId id="310" r:id="rId19"/>
    <p:sldId id="308" r:id="rId20"/>
    <p:sldId id="309" r:id="rId21"/>
    <p:sldId id="27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80092213" name="Govardhan Reddicharla" initials="G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1" d="100"/>
          <a:sy n="91" d="100"/>
        </p:scale>
        <p:origin x="384" y="58"/>
      </p:cViewPr>
      <p:guideLst>
        <p:guide orient="horz" pos="2214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" y="-635"/>
            <a:ext cx="9147175" cy="1831340"/>
          </a:xfrm>
        </p:spPr>
        <p:txBody>
          <a:bodyPr>
            <a:normAutofit/>
          </a:bodyPr>
          <a:lstStyle/>
          <a:p>
            <a:r>
              <a:rPr lang="en-US" sz="3555">
                <a:latin typeface="Times New Roman" panose="02020603050405020304" charset="0"/>
                <a:cs typeface="Times New Roman" panose="02020603050405020304" charset="0"/>
              </a:rPr>
              <a:t>r</a:t>
            </a:r>
            <a:endParaRPr lang="en-US" sz="355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637405"/>
            <a:ext cx="3944620" cy="12084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                                                                                         </a:t>
            </a:r>
            <a:endParaRPr lang="en-US"/>
          </a:p>
          <a:p>
            <a:pPr marL="0" indent="0">
              <a:buNone/>
            </a:pPr>
            <a:r>
              <a:rPr lang="en-US"/>
              <a:t>                               </a:t>
            </a:r>
            <a:endParaRPr lang="en-US"/>
          </a:p>
        </p:txBody>
      </p:sp>
      <p:pic>
        <p:nvPicPr>
          <p:cNvPr id="4" name="Picture 3" descr="Blue text on a white background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32"/>
          <a:stretch>
            <a:fillRect/>
          </a:stretch>
        </p:blipFill>
        <p:spPr>
          <a:xfrm>
            <a:off x="182880" y="116205"/>
            <a:ext cx="8130540" cy="13620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63550" y="2677795"/>
            <a:ext cx="8272780" cy="1536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n-US" sz="3600">
                <a:sym typeface="+mn-ea"/>
              </a:rPr>
              <a:t>   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Robust Data-Driven Analysis for Electricity Theft </a:t>
            </a:r>
            <a:endParaRPr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/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</a:t>
            </a: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Attack-Resilient Power Grid</a:t>
            </a:r>
            <a:endParaRPr lang="en-US" altLang="en-US" sz="28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effectLst/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83515" y="4979035"/>
            <a:ext cx="3007995" cy="866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GB" b="1"/>
              <a:t>     </a:t>
            </a:r>
            <a:r>
              <a:rPr lang="en-US" altLang="en-GB" b="1" u="sng"/>
              <a:t>Presentation By: </a:t>
            </a:r>
            <a:endParaRPr lang="en-US" altLang="en-GB" b="1" u="sng"/>
          </a:p>
          <a:p>
            <a:pPr algn="ctr"/>
            <a:r>
              <a:rPr lang="en-US" altLang="en-GB"/>
              <a:t>    </a:t>
            </a:r>
            <a:r>
              <a:rPr lang="en-US" altLang="en-GB" sz="1600"/>
              <a:t>Govardhan Reddicharla</a:t>
            </a:r>
            <a:endParaRPr lang="en-US" altLang="en-GB" sz="1600"/>
          </a:p>
          <a:p>
            <a:pPr algn="ctr"/>
            <a:r>
              <a:rPr lang="en-US" altLang="en-GB" sz="1600"/>
              <a:t>    Roll No: 23691f0049</a:t>
            </a:r>
            <a:endParaRPr lang="en-US" altLang="en-GB" sz="1600"/>
          </a:p>
        </p:txBody>
      </p:sp>
      <p:sp>
        <p:nvSpPr>
          <p:cNvPr id="9" name="Text Box 8"/>
          <p:cNvSpPr txBox="1"/>
          <p:nvPr/>
        </p:nvSpPr>
        <p:spPr>
          <a:xfrm flipH="1">
            <a:off x="4960620" y="4965065"/>
            <a:ext cx="3946525" cy="1146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en-GB" b="1"/>
              <a:t>               </a:t>
            </a:r>
            <a:r>
              <a:rPr lang="en-US" altLang="en-GB" b="1" u="sng"/>
              <a:t>Under The Guidance of:</a:t>
            </a:r>
            <a:endParaRPr lang="en-US" altLang="en-GB" b="1"/>
          </a:p>
          <a:p>
            <a:pPr algn="ctr"/>
            <a:r>
              <a:rPr lang="en-US" altLang="en-GB"/>
              <a:t>          </a:t>
            </a:r>
            <a:r>
              <a:rPr lang="en-US" altLang="en-GB" sz="1600"/>
              <a:t>Dr.Srinivasan J </a:t>
            </a:r>
            <a:endParaRPr lang="en-US" altLang="en-GB" sz="1600"/>
          </a:p>
          <a:p>
            <a:pPr algn="ctr"/>
            <a:r>
              <a:rPr lang="en-US" altLang="en-GB" sz="1600"/>
              <a:t>             Assistant Professor</a:t>
            </a:r>
            <a:endParaRPr lang="en-US" altLang="en-GB" sz="1600"/>
          </a:p>
          <a:p>
            <a:pPr algn="ctr"/>
            <a:r>
              <a:rPr lang="en-US" altLang="en-GB" sz="1600"/>
              <a:t>           Department of Computer Applications</a:t>
            </a:r>
            <a:endParaRPr lang="en-US" altLang="en-GB" sz="1600"/>
          </a:p>
        </p:txBody>
      </p:sp>
      <p:sp>
        <p:nvSpPr>
          <p:cNvPr id="5" name="Text Box 4"/>
          <p:cNvSpPr txBox="1"/>
          <p:nvPr/>
        </p:nvSpPr>
        <p:spPr>
          <a:xfrm>
            <a:off x="2955290" y="1223010"/>
            <a:ext cx="5021580" cy="5492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2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Department of Computer Applications</a:t>
            </a:r>
            <a:endParaRPr lang="en-US" altLang="en-GB" sz="20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83515" y="4140200"/>
            <a:ext cx="87236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/>
              <a:t>  </a:t>
            </a:r>
            <a:r>
              <a:rPr lang="en-US" altLang="en-GB" sz="2000" b="1">
                <a:solidFill>
                  <a:schemeClr val="accent6">
                    <a:lumMod val="75000"/>
                  </a:schemeClr>
                </a:solidFill>
              </a:rPr>
              <a:t>Review -</a:t>
            </a:r>
            <a:r>
              <a:rPr lang="en-US" altLang="en-GB" b="1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GB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׀</a:t>
            </a:r>
            <a:r>
              <a:rPr lang="en-US" altLang="en-GB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׀</a:t>
            </a:r>
            <a:r>
              <a:rPr lang="en-US" altLang="en-GB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׀</a:t>
            </a:r>
            <a:endParaRPr lang="en-US" altLang="en-GB" b="1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318000" y="3238500"/>
            <a:ext cx="24574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׀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379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Abstract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Technologies and </a:t>
            </a:r>
            <a:r>
              <a:rPr lang="en-US" alt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ools</a:t>
            </a:r>
            <a:r>
              <a:rPr lang="en-US" alt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Used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Modules Description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Testing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Experimental </a:t>
            </a:r>
            <a:r>
              <a:rPr lang="en-US" alt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esults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Performance Evaluation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Comparison with</a:t>
            </a:r>
            <a:r>
              <a:rPr lang="en-US" alt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the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xisting </a:t>
            </a:r>
            <a:r>
              <a:rPr lang="en-US" alt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ystem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 Snippets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Screenshots of </a:t>
            </a:r>
            <a:r>
              <a:rPr lang="en-US" alt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mplementation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Scope for Future Enhancement</a:t>
            </a:r>
            <a:endParaRPr lang="en-US" altLang="en-IN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555"/>
            <a:ext cx="8229600" cy="96139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charset="0"/>
                <a:cs typeface="Times New Roman" panose="02020603050405020304" charset="0"/>
              </a:rPr>
              <a:t>ABSTRACT</a:t>
            </a:r>
            <a:endParaRPr lang="en-US" sz="2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0635"/>
            <a:ext cx="8273415" cy="52298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Problem statement: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Electricity theft in smart grids poses a major challenge due to data imbalance, anomalies, and evolving fraud techniques. Existing systems often fail to detect such thefts accurately, leading to operational and financial losses.</a:t>
            </a:r>
            <a:b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Times New Roman Bold"/>
              </a:rPr>
              <a:t>Project objectives:</a:t>
            </a: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Times New Roman" panose="02020603050405020304"/>
              </a:rPr>
              <a:t> 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  <a:sym typeface="Times New Roman" panose="020206030504050203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To develop a robust machine learning framework that accurately detects electricity theft from smart meter data. The goal is to enhance detection accuracy, reduce false positives, and support real-time insights via a dashboard.</a:t>
            </a:r>
            <a:b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Brief solution approach: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system applies preprocessing, feature selection, and SMOTE to handle imbalanced data, followed by model training using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Decision Tree, Random Forest, SVM, XGBoost, ANN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 A Flask-based dashboard visualizes predictions for real-time monitoring.</a:t>
            </a:r>
            <a:endParaRPr lang="en-US" altLang="en-GB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63890" cy="782955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TECHNOLOGIES AND TOOLS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835" y="1446530"/>
            <a:ext cx="8262620" cy="507809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Programming Language: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Python 3.11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Machine Learning Models: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Decision Tree, Random Forest, Support Vector Machine (SVM), XGBoost, Artificial Neural Network (ANN)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Balancing Technique: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SMOTE (Synthetic Minority Over-sampling Technique)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Web Framework (Dashboard):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Flask (Python Micro Web Framework)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 Selection / Extraction: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Filter-based and embedded methods (based on feature importance from tree-based models)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TOOLS USED</a:t>
            </a:r>
            <a:endParaRPr lang="en-US" altLang="en-GB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Editors: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 Visual Studio Code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</a:rPr>
              <a:t>Libraries: 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Scikit-learn, XGBoost ,TensorFlow/Keras , Imbalanced-learn , Pandas, NumPy , Matplotlib, Seaborn 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Hardware:</a:t>
            </a: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Intel Core i5/i7, 8 GB RAM, SSD storage 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</a:b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94690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MODULES DESCRIPTION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2865"/>
            <a:ext cx="8229600" cy="5241290"/>
          </a:xfrm>
        </p:spPr>
        <p:txBody>
          <a:bodyPr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Data Collection &amp; Input Module:</a:t>
            </a:r>
            <a:endParaRPr lang="en-US" altLang="en-GB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Collects smart meter electricity consumption data from customers.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Handles raw data ingestion (CSV, database, or simulated).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Validates structure and handles missing input records.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Preprocessing Module:</a:t>
            </a:r>
            <a:endParaRPr lang="en-US" altLang="en-GB" sz="18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Cleanses the data by removing anomalies, filling missing values.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Applies SMOTE to handle class imbalance (theft vs. normal).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Normalizes and scales data for better ML performance.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Feature Selection &amp; Extraction Module:</a:t>
            </a:r>
            <a:endParaRPr lang="en-US" altLang="en-GB" sz="18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Identifies important features using statistical methods and model-based rankings.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Reduces dimensionality to improve model accuracy and training speed.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Prepares the dataset for input to machine learning algorithms.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3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602615"/>
          </a:xfrm>
        </p:spPr>
        <p:txBody>
          <a:bodyPr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MODULES DESCRIPTION</a:t>
            </a:r>
            <a:endParaRPr lang="en-US" altLang="en-GB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792980"/>
          </a:xfrm>
        </p:spPr>
        <p:txBody>
          <a:bodyPr/>
          <a:p>
            <a:pPr marL="0" indent="0">
              <a:buNone/>
            </a:pPr>
            <a:r>
              <a:rPr lang="en-US" altLang="en-GB" sz="2000" b="1" u="sng">
                <a:latin typeface="Times New Roman" panose="02020603050405020304" charset="0"/>
                <a:cs typeface="Times New Roman" panose="02020603050405020304" charset="0"/>
              </a:rPr>
              <a:t>Model Training &amp; Prediction Module:</a:t>
            </a:r>
            <a:endParaRPr lang="en-US" altLang="en-GB" sz="20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Trains various ML classifiers (Decision Tree, Random Forest, SVM, ANN, XGBoost).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Evaluates models using metrics like Accuracy, Recall, and F1-score.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Predicts whether electricity usage is normal or fraudulent.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 b="1" u="sng">
                <a:latin typeface="Times New Roman" panose="02020603050405020304" charset="0"/>
                <a:cs typeface="Times New Roman" panose="02020603050405020304" charset="0"/>
              </a:rPr>
              <a:t>Visualization &amp; Dashboard Module:</a:t>
            </a:r>
            <a:endParaRPr lang="en-US" altLang="en-GB" sz="18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Built using Flask web framework.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Displays prediction results, alerts for theft detection, and performance metrics.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Allows admin users to view usage data, track theft events, and monitor model output.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"/>
            <a:ext cx="8229600" cy="709930"/>
          </a:xfrm>
        </p:spPr>
        <p:txBody>
          <a:bodyPr>
            <a:normAutofit/>
          </a:bodyPr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TESTING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457200" y="1033145"/>
            <a:ext cx="8239125" cy="5774055"/>
          </a:xfrm>
        </p:spPr>
        <p:txBody>
          <a:bodyPr>
            <a:normAutofit fontScale="40000"/>
          </a:bodyPr>
          <a:p>
            <a:pPr marL="0" indent="0">
              <a:buNone/>
            </a:pPr>
            <a:r>
              <a:rPr lang="en-US" altLang="en-GB" sz="4500" b="1" u="sng">
                <a:latin typeface="Times New Roman" panose="02020603050405020304" charset="0"/>
                <a:cs typeface="Times New Roman" panose="02020603050405020304" charset="0"/>
              </a:rPr>
              <a:t>Unit Testing:</a:t>
            </a:r>
            <a:endParaRPr lang="en-US" altLang="en-GB" sz="4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4500">
                <a:latin typeface="Times New Roman" panose="02020603050405020304" charset="0"/>
                <a:cs typeface="Times New Roman" panose="02020603050405020304" charset="0"/>
              </a:rPr>
              <a:t>Each core module—preprocessing, feature selection, model training, and dashboard—was independently validated to ensure correct internal functionality.</a:t>
            </a:r>
            <a:endParaRPr lang="en-US" altLang="en-GB" sz="45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4500" b="1" u="sng">
                <a:latin typeface="Times New Roman" panose="02020603050405020304" charset="0"/>
                <a:cs typeface="Times New Roman" panose="02020603050405020304" charset="0"/>
              </a:rPr>
              <a:t>Integration Testing:</a:t>
            </a:r>
            <a:endParaRPr lang="en-US" altLang="en-GB" sz="45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4500">
                <a:latin typeface="Times New Roman" panose="02020603050405020304" charset="0"/>
                <a:cs typeface="Times New Roman" panose="02020603050405020304" charset="0"/>
              </a:rPr>
              <a:t>The flow from data ingestion to prediction and dashboard output was tested to confirm seamless interaction between connected modules.</a:t>
            </a:r>
            <a:endParaRPr lang="en-US" altLang="en-GB" sz="45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4500" b="1" u="sng">
                <a:latin typeface="Times New Roman" panose="02020603050405020304" charset="0"/>
                <a:cs typeface="Times New Roman" panose="02020603050405020304" charset="0"/>
              </a:rPr>
              <a:t>System Testing:</a:t>
            </a:r>
            <a:endParaRPr lang="en-US" altLang="en-GB" sz="45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4500">
                <a:latin typeface="Times New Roman" panose="02020603050405020304" charset="0"/>
                <a:cs typeface="Times New Roman" panose="02020603050405020304" charset="0"/>
              </a:rPr>
              <a:t>The entire system was evaluated with realistic smart meter datasets to verify end-to-end functionality, robustness, and theft detection performance.</a:t>
            </a:r>
            <a:endParaRPr lang="en-US" altLang="en-GB" sz="45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4500" b="1" u="sng">
                <a:latin typeface="Times New Roman" panose="02020603050405020304" charset="0"/>
                <a:cs typeface="Times New Roman" panose="02020603050405020304" charset="0"/>
              </a:rPr>
              <a:t>Validation Testing:</a:t>
            </a:r>
            <a:endParaRPr lang="en-US" altLang="en-GB" sz="45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4500"/>
              <a:t>Model predictions were matched against actual theft labels using metrics like recall and accuracy to confirm reliable classification performance.</a:t>
            </a:r>
            <a:endParaRPr lang="en-US" altLang="en-GB" sz="4500"/>
          </a:p>
          <a:p>
            <a:pPr marL="0" indent="0">
              <a:buNone/>
            </a:pPr>
            <a:r>
              <a:rPr lang="en-US" altLang="en-GB" sz="4500" b="1" u="sng">
                <a:latin typeface="Times New Roman" panose="02020603050405020304" charset="0"/>
                <a:cs typeface="Times New Roman" panose="02020603050405020304" charset="0"/>
              </a:rPr>
              <a:t>Performance Testing:</a:t>
            </a:r>
            <a:endParaRPr lang="en-US" altLang="en-GB" sz="45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4500">
                <a:latin typeface="Times New Roman" panose="02020603050405020304" charset="0"/>
                <a:cs typeface="Times New Roman" panose="02020603050405020304" charset="0"/>
              </a:rPr>
              <a:t>The system’s response time, resource usage, and throughput were tested using large datasets to ensure it can handle real-world data loads efficiently.</a:t>
            </a:r>
            <a:endParaRPr lang="en-US" altLang="en-GB" sz="45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4500" b="1" u="sng">
                <a:latin typeface="Times New Roman" panose="02020603050405020304" charset="0"/>
                <a:cs typeface="Times New Roman" panose="02020603050405020304" charset="0"/>
              </a:rPr>
              <a:t>Regression Testing:</a:t>
            </a:r>
            <a:endParaRPr lang="en-US" altLang="en-GB" sz="4500" b="1" u="sng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4500">
                <a:latin typeface="Times New Roman" panose="02020603050405020304" charset="0"/>
                <a:cs typeface="Times New Roman" panose="02020603050405020304" charset="0"/>
              </a:rPr>
              <a:t>Each modification, such as model tuning or feature adjustments, was tested to ensure existing system performance and accuracy remained unaffected.</a:t>
            </a:r>
            <a:endParaRPr lang="en-US" altLang="en-GB" sz="45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640715" y="266700"/>
            <a:ext cx="7870825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IN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           </a:t>
            </a: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EXPERIMENTAL RESULTS</a:t>
            </a:r>
            <a:endParaRPr lang="en-IN" sz="2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2800"/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623570" y="927100"/>
          <a:ext cx="7880350" cy="3084195"/>
        </p:xfrm>
        <a:graphic>
          <a:graphicData uri="http://schemas.openxmlformats.org/drawingml/2006/table">
            <a:tbl>
              <a:tblPr/>
              <a:tblGrid>
                <a:gridCol w="2637790"/>
                <a:gridCol w="2621280"/>
                <a:gridCol w="2621280"/>
              </a:tblGrid>
              <a:tr h="938530"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Metric</a:t>
                      </a:r>
                      <a:endParaRPr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Result</a:t>
                      </a:r>
                      <a:endParaRPr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r>
                        <a:rPr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Inference</a:t>
                      </a:r>
                      <a:endParaRPr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785"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Accuracy (XGBoost)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83.08%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 reliability 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2730"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Recall (XGBoost)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0.87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Strong ability to detect theft cases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7365"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F1-Score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0.82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Balanced performance between precision and recall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785"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Precision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0.77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Good accuracy in identifying actual thefts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Training Time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Low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Fast model convergence with optimized features</a:t>
                      </a:r>
                      <a:endParaRPr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8970" y="4257675"/>
            <a:ext cx="7854950" cy="2423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 u="sng">
                <a:latin typeface="Times New Roman" panose="02020603050405020304" charset="0"/>
                <a:cs typeface="Times New Roman" panose="02020603050405020304" charset="0"/>
              </a:rPr>
              <a:t>Outcome:</a:t>
            </a:r>
            <a:endParaRPr lang="en-US" altLang="en-GB" b="1" u="sng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Effectively detects electricity theft even in imbalanced datasets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High recall ensures minimal theft cases are missed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Balanced precision avoids over-alerting false thefts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742950" lvl="1" indent="-285750">
              <a:buFont typeface="Wingdings" panose="05000000000000000000" charset="0"/>
              <a:buChar char="§"/>
            </a:pPr>
            <a:r>
              <a:rPr lang="en-US" altLang="en-GB" sz="1600">
                <a:latin typeface="Times New Roman" panose="02020603050405020304" charset="0"/>
                <a:cs typeface="Times New Roman" panose="02020603050405020304" charset="0"/>
              </a:rPr>
              <a:t>Fast and scalable training pipeline using XGBoost and SMOTE</a:t>
            </a:r>
            <a:endParaRPr lang="en-US" altLang="en-GB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447165" y="252730"/>
            <a:ext cx="6316345" cy="513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IN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PERFORMANCE EVALUATION</a:t>
            </a:r>
            <a:endParaRPr lang="en-GB" altLang="en-US" sz="2800"/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631825" y="1154430"/>
          <a:ext cx="7872095" cy="4050030"/>
        </p:xfrm>
        <a:graphic>
          <a:graphicData uri="http://schemas.openxmlformats.org/drawingml/2006/table">
            <a:tbl>
              <a:tblPr/>
              <a:tblGrid>
                <a:gridCol w="1640840"/>
                <a:gridCol w="1276350"/>
                <a:gridCol w="1141095"/>
                <a:gridCol w="1192530"/>
                <a:gridCol w="1175385"/>
                <a:gridCol w="1445895"/>
              </a:tblGrid>
              <a:tr h="675005"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Model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Accuracy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Recall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Precision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F1-Score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Training Time</a:t>
                      </a:r>
                      <a:endParaRPr sz="1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5005"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XGBoost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83.08%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0.87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0.77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0.82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Low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5005"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Random Forest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84.67%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0.85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0.75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0.81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Medium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5005"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Decision Tree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75.15%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0.72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0.70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0.70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Very Low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5005"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SVM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62.25%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0.60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0.57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0.59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5005"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ANN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53.37%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0.52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0.50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0.50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70890"/>
          </a:xfrm>
        </p:spPr>
        <p:txBody>
          <a:bodyPr>
            <a:normAutofit/>
          </a:bodyPr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PERFORMANCE EVALUATION</a:t>
            </a:r>
            <a:endParaRPr lang="en-GB" altLang="en-US" sz="28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05255"/>
            <a:ext cx="8229600" cy="4763770"/>
          </a:xfrm>
        </p:spPr>
        <p:txBody>
          <a:bodyPr>
            <a:normAutofit lnSpcReduction="10000"/>
          </a:bodyPr>
          <a:p>
            <a:pPr>
              <a:buFont typeface="Wingdings" panose="05000000000000000000" charset="0"/>
              <a:buChar char="§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SMOTE-based data balancing significantly improved theft case recall without affecting model generalization.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XGBoost and Random Forest provided high prediction accuracy with fast training and minimal overfitting.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Decision Tree, ANN, SVM models also performed well in predicting theft cases.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Evaluation metrics like accuracy, recall, precision, and F1-score confirmed stable and reliable classification performance.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The complete system, including the Flask-based dashboard, was tested for scalability, speed, and real-time performance, confirming its reliability and readiness for deployment in smart grid environments.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80365" y="474345"/>
            <a:ext cx="83400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  </a:t>
            </a: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COMPARISON WITH THE EXISTING SYSTEM</a:t>
            </a:r>
            <a:endParaRPr lang="en-US" altLang="en-GB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400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23825" y="1155700"/>
          <a:ext cx="8879205" cy="5365115"/>
        </p:xfrm>
        <a:graphic>
          <a:graphicData uri="http://schemas.openxmlformats.org/drawingml/2006/table">
            <a:tbl>
              <a:tblPr/>
              <a:tblGrid>
                <a:gridCol w="2433320"/>
                <a:gridCol w="3340735"/>
                <a:gridCol w="3105150"/>
              </a:tblGrid>
              <a:tr h="1138555"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Aspect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Existing System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Proposed Syste</a:t>
                      </a:r>
                      <a:r>
                        <a:rPr lang="en-US"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</a:t>
                      </a:r>
                      <a:endParaRPr 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lang="en-US"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5946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Data Imbalance Handling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Not addressed or manually balanced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SMOTE used for effective synthetic minority oversampling</a:t>
                      </a:r>
                      <a:r>
                        <a:rPr 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.</a:t>
                      </a:r>
                      <a:endParaRPr 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5819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Model Types Used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Basic ML models (e.g., DT or Naive Bayes)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Advanced ML models (XGBoost, RF, SVM, ANN) with feature tuning</a:t>
                      </a:r>
                      <a:r>
                        <a:rPr 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.</a:t>
                      </a:r>
                      <a:endParaRPr 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5946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Feature Engineering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Limited or manual feature selection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Automated, model-based feature selection for better relevance</a:t>
                      </a:r>
                      <a:r>
                        <a:rPr 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.</a:t>
                      </a:r>
                      <a:endParaRPr 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563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Detection Accuracy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Moderate, with frequent false negatives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High accuracy and recall, especially with XGBoost</a:t>
                      </a:r>
                      <a:r>
                        <a:rPr 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.</a:t>
                      </a:r>
                      <a:endParaRPr 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436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Real-Time Visualization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Typically offline or absent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Flask-based interactive dashboard for real-time insights</a:t>
                      </a:r>
                      <a:r>
                        <a:rPr 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.</a:t>
                      </a:r>
                      <a:endParaRPr 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59460"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Scalability &amp; Deployment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Not scalable, lacks modularity</a:t>
                      </a:r>
                      <a:endParaRPr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Scalable, modular system suitable for smart grid environments</a:t>
                      </a:r>
                      <a:r>
                        <a:rPr lang="en-US" sz="1600">
                          <a:latin typeface="Times New Roman" panose="02020603050405020304" charset="0"/>
                          <a:cs typeface="Times New Roman" panose="02020603050405020304" charset="0"/>
                        </a:rPr>
                        <a:t>.</a:t>
                      </a:r>
                      <a:endParaRPr lang="en-US" sz="16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864870"/>
          </a:xfrm>
        </p:spPr>
        <p:txBody>
          <a:bodyPr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 SNIPPETS</a:t>
            </a:r>
            <a:endParaRPr lang="en-GB" altLang="en-US" sz="28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2859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  <a:t>ml_model_training.py</a:t>
            </a:r>
            <a:b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altLang="en-GB" sz="24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import pandas as pd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import numpy as np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import joblib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sklearn.model_selection import train_test_split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sklearn.preprocessing import StandardScaler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sklearn.metrics import accuracy_score, classification_report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sklearn.tree import DecisionTreeClassifier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sklearn.ensemble import RandomForestClassifier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sklearn.svm import SVC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import xgboost as xgb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from tensorflow import keras</a:t>
            </a:r>
            <a:b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</a:b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790"/>
            <a:ext cx="8229600" cy="922020"/>
          </a:xfrm>
        </p:spPr>
        <p:txBody>
          <a:bodyPr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 SNIPPETS</a:t>
            </a:r>
            <a:endParaRPr lang="en-GB" alt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165"/>
            <a:ext cx="8229600" cy="5407660"/>
          </a:xfrm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altLang="en-GB" sz="4665" b="1">
                <a:latin typeface="Times New Roman" panose="02020603050405020304" charset="0"/>
                <a:cs typeface="Times New Roman" panose="02020603050405020304" charset="0"/>
              </a:rPr>
              <a:t>app.py</a:t>
            </a:r>
            <a:br>
              <a:rPr lang="en-US" altLang="en-GB" sz="4665" b="1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import numpy as np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import pandas as pd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import joblib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import threading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from playsound import playsound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from flask import Flask, request, jsonify, render_template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 b="1">
                <a:latin typeface="Times New Roman" panose="02020603050405020304" charset="0"/>
                <a:cs typeface="Times New Roman" panose="02020603050405020304" charset="0"/>
              </a:rPr>
              <a:t>#  Load trained models</a:t>
            </a:r>
            <a:endParaRPr lang="en-US" altLang="en-GB" sz="3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scaler = joblib.load("scaler.pkl")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rf_model = joblib.load("random_forest_model.pkl")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dt_model = joblib.load("decision_tree_model.pkl")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svm_model = joblib.load("svm_model.pkl")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xgb_model = joblib.load("xgboost_model.pkl")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3000">
                <a:latin typeface="Times New Roman" panose="02020603050405020304" charset="0"/>
                <a:cs typeface="Times New Roman" panose="02020603050405020304" charset="0"/>
              </a:rPr>
              <a:t>ann_model = joblib.load("ann_model.pkl")</a:t>
            </a:r>
            <a:endParaRPr lang="en-US" altLang="en-GB" sz="3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SCREENSHOTS OF IMPLEMENTATION</a:t>
            </a:r>
            <a:endParaRPr lang="en-IN" altLang="en-US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Content Placeholder 3" descr="HOME PAG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6565" y="1422400"/>
            <a:ext cx="8247380" cy="4708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SCREENSHOTS OF IMPLEMENTATION</a:t>
            </a:r>
            <a:endParaRPr lang="en-IN" altLang="en-US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Content Placeholder 3" descr="VALUE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98905"/>
            <a:ext cx="8229600" cy="47917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SCREENSHOTS OF IMPLEMENTATION</a:t>
            </a:r>
            <a:endParaRPr lang="en-GB" altLang="en-US" sz="2800"/>
          </a:p>
        </p:txBody>
      </p:sp>
      <p:pic>
        <p:nvPicPr>
          <p:cNvPr id="4" name="Content Placeholder 3" descr="NORMAL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417955"/>
            <a:ext cx="8229600" cy="48152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 sz="3110" b="1">
                <a:latin typeface="Times New Roman" panose="02020603050405020304" charset="0"/>
                <a:cs typeface="Times New Roman" panose="02020603050405020304" charset="0"/>
              </a:rPr>
              <a:t>SCREENSHOTS OF IMPLEMENTATION</a:t>
            </a:r>
            <a:endParaRPr lang="en-US" altLang="en-GB" sz="311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THEF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446530"/>
            <a:ext cx="8229600" cy="48964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p>
            <a:pPr>
              <a:buFont typeface="Wingdings" panose="05000000000000000000" charset="0"/>
              <a:buChar char="§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The proposed system effectively detects electricity theft using advanced machine learning models, with XGBoost delivering the highest accuracy and recall.</a:t>
            </a: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Data imbalance, a major challenge in theft detection, was successfully handled using SMOTE, improving the system’s ability to detect minority theft cases.</a:t>
            </a: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Preprocessing, feature selection, and model evaluation pipelines were carefully designed to ensure robustness, scalability, and high classification performance.</a:t>
            </a: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The Flask-based dashboard provides a real-time, user-friendly interface for administrators to monitor usage patterns and receive theft alerts.</a:t>
            </a: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7200">
                <a:latin typeface="Times New Roman" panose="02020603050405020304" charset="0"/>
                <a:cs typeface="Times New Roman" panose="02020603050405020304" charset="0"/>
              </a:rPr>
              <a:t>Overall, the system demonstrates high accuracy, fast execution, and practical deployment capability for improving the resilience of modern smart grids.</a:t>
            </a:r>
            <a:endParaRPr lang="en-US" altLang="en-GB" sz="7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755"/>
            <a:ext cx="8229600" cy="1080135"/>
          </a:xfrm>
        </p:spPr>
        <p:txBody>
          <a:bodyPr/>
          <a:p>
            <a:r>
              <a:rPr lang="en-US" altLang="en-IN" sz="2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SCOPE FOR FUTURE ENHANCEMENT</a:t>
            </a:r>
            <a:endParaRPr lang="en-US" altLang="en-IN" sz="2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985"/>
            <a:ext cx="8229600" cy="527494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Real-Time Smart Meter Streaming Support:</a:t>
            </a:r>
            <a:endParaRPr lang="en-US" altLang="en-GB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The system can be extended to handle live streaming data from IoT-based smart meters, allowing real-time detection and alerting of fraudulent activities.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Geospatial and Customer Behavior Analysis:</a:t>
            </a:r>
            <a:endParaRPr lang="en-US" altLang="en-GB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Incorporating customer location data and historical behavioral patterns may improve detection accuracy and help identify regional theft trends.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Blockchain Integration for Data Security:</a:t>
            </a:r>
            <a:endParaRPr lang="en-US" altLang="en-GB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Blockchain can be used to securely log and validate electricity usage data, ensuring tamper-proof records and enhancing the transparency of the detection process.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900" b="1">
                <a:latin typeface="Times New Roman" panose="02020603050405020304" charset="0"/>
                <a:cs typeface="Times New Roman" panose="02020603050405020304" charset="0"/>
              </a:rPr>
              <a:t>Mobile-Based Admin Interface:</a:t>
            </a:r>
            <a:endParaRPr lang="en-US" altLang="en-GB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900">
                <a:latin typeface="Times New Roman" panose="02020603050405020304" charset="0"/>
                <a:cs typeface="Times New Roman" panose="02020603050405020304" charset="0"/>
              </a:rPr>
              <a:t>Developing a mobile-friendly dashboard or app can enable field operators and utility administrators to access theft alerts and reports on-the-go.</a:t>
            </a:r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19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 sz="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en-GB"/>
            </a:br>
            <a:r>
              <a:rPr lang="en-US" altLang="en-GB"/>
              <a:t>THANK YOU</a:t>
            </a:r>
            <a:endParaRPr lang="en-US" alt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00" y="-2476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20*242"/>
  <p:tag name="TABLE_ENDDRAG_RECT" val="49*71*620*242"/>
</p:tagLst>
</file>

<file path=ppt/tags/tag2.xml><?xml version="1.0" encoding="utf-8"?>
<p:tagLst xmlns:p="http://schemas.openxmlformats.org/presentationml/2006/main">
  <p:tag name="TABLE_ENDDRAG_ORIGIN_RECT" val="619*318"/>
  <p:tag name="TABLE_ENDDRAG_RECT" val="49*90*619*318"/>
</p:tagLst>
</file>

<file path=ppt/tags/tag3.xml><?xml version="1.0" encoding="utf-8"?>
<p:tagLst xmlns:p="http://schemas.openxmlformats.org/presentationml/2006/main">
  <p:tag name="TABLE_ENDDRAG_ORIGIN_RECT" val="675*422"/>
  <p:tag name="TABLE_ENDDRAG_RECT" val="21*91*675*4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9046</Words>
  <Application>WPS Presentation</Application>
  <PresentationFormat>On-screen Show (4:3)</PresentationFormat>
  <Paragraphs>365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Arial</vt:lpstr>
      <vt:lpstr>Times New Roman</vt:lpstr>
      <vt:lpstr>Times New Roman Bold</vt:lpstr>
      <vt:lpstr>Times New Roman</vt:lpstr>
      <vt:lpstr>Wingdings</vt:lpstr>
      <vt:lpstr>Calibri</vt:lpstr>
      <vt:lpstr>Microsoft YaHei</vt:lpstr>
      <vt:lpstr>Arial Unicode MS</vt:lpstr>
      <vt:lpstr>Times New Roman Bold</vt:lpstr>
      <vt:lpstr>Office Theme</vt:lpstr>
      <vt:lpstr>r</vt:lpstr>
      <vt:lpstr>CONTENTS</vt:lpstr>
      <vt:lpstr>ABSTRACT</vt:lpstr>
      <vt:lpstr>TECHNOLOGIES AND TOOLS</vt:lpstr>
      <vt:lpstr>MODULES DESCRIPTION</vt:lpstr>
      <vt:lpstr>MODULES DESCRIPTION</vt:lpstr>
      <vt:lpstr>TESTING</vt:lpstr>
      <vt:lpstr>PowerPoint 演示文稿</vt:lpstr>
      <vt:lpstr>PowerPoint 演示文稿</vt:lpstr>
      <vt:lpstr>PERFORMANCE EVALUATION</vt:lpstr>
      <vt:lpstr>PowerPoint 演示文稿</vt:lpstr>
      <vt:lpstr>CODE SNIPPETS</vt:lpstr>
      <vt:lpstr>CODE SNIPPETS</vt:lpstr>
      <vt:lpstr>SCREENSHOTS OF IMPLEMENTATION</vt:lpstr>
      <vt:lpstr>SCREENSHOTS OF IMPLEMENTATION</vt:lpstr>
      <vt:lpstr>SCREENSHOTS OF IMPLEMENTATION</vt:lpstr>
      <vt:lpstr>PowerPoint 演示文稿</vt:lpstr>
      <vt:lpstr>CONCLUSION</vt:lpstr>
      <vt:lpstr>SCOPE FOR FUTURE ENHANCEMENT</vt:lpstr>
      <vt:lpstr>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Govardhan Reddicharla</cp:lastModifiedBy>
  <cp:revision>35</cp:revision>
  <dcterms:created xsi:type="dcterms:W3CDTF">2013-01-27T09:14:00Z</dcterms:created>
  <dcterms:modified xsi:type="dcterms:W3CDTF">2025-06-16T08:53:01Z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1DC492BB965D46E6BBF6A211DB5037F0_13</vt:lpwstr>
  </property>
  <property fmtid="{D5CDD505-2E9C-101B-9397-08002B2CF9AE}" pid="3" name="KSOProductBuildVer">
    <vt:lpwstr>2057-12.2.0.21183</vt:lpwstr>
  </property>
</Properties>
</file>